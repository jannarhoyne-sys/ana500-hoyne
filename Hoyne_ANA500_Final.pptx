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72" r:id="rId8"/>
    <p:sldId id="265" r:id="rId9"/>
    <p:sldId id="266" r:id="rId10"/>
    <p:sldId id="267" r:id="rId11"/>
    <p:sldId id="268" r:id="rId12"/>
    <p:sldId id="273" r:id="rId13"/>
    <p:sldId id="280" r:id="rId14"/>
    <p:sldId id="274" r:id="rId15"/>
    <p:sldId id="277" r:id="rId16"/>
    <p:sldId id="275" r:id="rId17"/>
    <p:sldId id="276" r:id="rId18"/>
    <p:sldId id="278" r:id="rId19"/>
    <p:sldId id="279" r:id="rId20"/>
    <p:sldId id="281" r:id="rId21"/>
    <p:sldId id="285" r:id="rId22"/>
    <p:sldId id="282" r:id="rId23"/>
    <p:sldId id="283" r:id="rId24"/>
    <p:sldId id="287" r:id="rId25"/>
    <p:sldId id="286" r:id="rId26"/>
    <p:sldId id="284" r:id="rId27"/>
    <p:sldId id="288" r:id="rId28"/>
  </p:sldIdLst>
  <p:sldSz cx="12192000" cy="6858000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2185B"/>
    <a:srgbClr val="595959"/>
    <a:srgbClr val="E4C6DB"/>
    <a:srgbClr val="F8B2C1"/>
    <a:srgbClr val="D4BEA9"/>
    <a:srgbClr val="F1EF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20B81B-A32C-4F50-98F1-EC92BA9E7899}" v="32" dt="2026-08-11T23:17:57.61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68" y="5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09CE9-F18C-5020-CF43-5960AFE654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40410"/>
            <a:ext cx="10813067" cy="78383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3600" dirty="0">
                <a:solidFill>
                  <a:schemeClr val="tx2">
                    <a:alpha val="9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6B3AA5-F8D6-AB69-241F-6F8F1DD41E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" y="998185"/>
            <a:ext cx="10813067" cy="541508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569E8996-63F9-282F-EB89-823A9E405F96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462974" y="1606318"/>
            <a:ext cx="11268845" cy="4791456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E78127-77D8-DF99-4AE0-F322800B0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0080" y="6445997"/>
            <a:ext cx="3949302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D04168-7304-004B-C2F6-42E38FDC5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B12FF42-78AA-43B7-BE38-617D6A986F75}" type="datetimeFigureOut">
              <a:rPr lang="en-US" dirty="0"/>
              <a:t>8/16/2026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C58464-EE0F-215A-2FA8-F434687B9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DF60B60-82CA-4BB9-BA6E-A62FADF2374B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FC4771-5A22-2E68-AB04-0949D0A15B66}"/>
              </a:ext>
            </a:extLst>
          </p:cNvPr>
          <p:cNvCxnSpPr>
            <a:cxnSpLocks/>
          </p:cNvCxnSpPr>
          <p:nvPr/>
        </p:nvCxnSpPr>
        <p:spPr>
          <a:xfrm flipH="1">
            <a:off x="0" y="159971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AA95C5A-6D75-9E1D-C459-7F2022E84F55}"/>
              </a:ext>
            </a:extLst>
          </p:cNvPr>
          <p:cNvCxnSpPr>
            <a:cxnSpLocks/>
          </p:cNvCxnSpPr>
          <p:nvPr/>
        </p:nvCxnSpPr>
        <p:spPr>
          <a:xfrm>
            <a:off x="457200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0ED5AC1-9F96-A868-7F45-523BF1A45E7C}"/>
              </a:ext>
            </a:extLst>
          </p:cNvPr>
          <p:cNvCxnSpPr>
            <a:cxnSpLocks/>
          </p:cNvCxnSpPr>
          <p:nvPr/>
        </p:nvCxnSpPr>
        <p:spPr>
          <a:xfrm>
            <a:off x="11734800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0E1F764-5B01-7711-9CF1-7EA13A629701}"/>
              </a:ext>
            </a:extLst>
          </p:cNvPr>
          <p:cNvCxnSpPr>
            <a:cxnSpLocks/>
          </p:cNvCxnSpPr>
          <p:nvPr/>
        </p:nvCxnSpPr>
        <p:spPr>
          <a:xfrm flipH="1">
            <a:off x="0" y="6396171"/>
            <a:ext cx="12192000" cy="0"/>
          </a:xfrm>
          <a:prstGeom prst="line">
            <a:avLst/>
          </a:prstGeom>
          <a:ln w="9525">
            <a:solidFill>
              <a:schemeClr val="tx2"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95683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360221"/>
            <a:ext cx="10515600" cy="133046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004291"/>
            <a:ext cx="10515600" cy="417267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5800" y="6445997"/>
            <a:ext cx="3949302" cy="365125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8F8D0-0E9B-4650-859F-69E8A62E8B3F}" type="datetimeFigureOut">
              <a:rPr lang="en-US" dirty="0"/>
              <a:t>8/16/2026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60B60-82CA-4BB9-BA6E-A62FADF2374B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76D044F-5574-D6D7-2A47-5069E411C22F}"/>
              </a:ext>
            </a:extLst>
          </p:cNvPr>
          <p:cNvCxnSpPr>
            <a:cxnSpLocks/>
          </p:cNvCxnSpPr>
          <p:nvPr/>
        </p:nvCxnSpPr>
        <p:spPr>
          <a:xfrm flipH="1">
            <a:off x="0" y="1825625"/>
            <a:ext cx="12210293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42602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09CE9-F18C-5020-CF43-5960AFE654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72445" y="1480212"/>
            <a:ext cx="3849131" cy="2871351"/>
          </a:xfrm>
        </p:spPr>
        <p:txBody>
          <a:bodyPr anchor="ctr">
            <a:normAutofit/>
          </a:bodyPr>
          <a:lstStyle>
            <a:lvl1pPr algn="ctr">
              <a:defRPr sz="3600">
                <a:solidFill>
                  <a:schemeClr val="tx2">
                    <a:alpha val="9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6B3AA5-F8D6-AB69-241F-6F8F1DD41E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72446" y="5410440"/>
            <a:ext cx="3849128" cy="106820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569E8996-63F9-282F-EB89-823A9E405F96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0" y="0"/>
            <a:ext cx="7204414" cy="6859634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E78127-77D8-DF99-4AE0-F322800B0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429501" y="6445997"/>
            <a:ext cx="295546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D04168-7304-004B-C2F6-42E38FDC590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26650" y="6445997"/>
            <a:ext cx="1353059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D495F72-74F9-4C7D-96DC-BB7900DFF168}" type="datetimeFigureOut">
              <a:rPr lang="en-US" dirty="0"/>
              <a:t>8/16/2026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C58464-EE0F-215A-2FA8-F434687B9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DF60B60-82CA-4BB9-BA6E-A62FADF2374B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8BE003B-9AA9-5AAB-16A3-CC8CD5997AAA}"/>
              </a:ext>
            </a:extLst>
          </p:cNvPr>
          <p:cNvCxnSpPr>
            <a:cxnSpLocks/>
          </p:cNvCxnSpPr>
          <p:nvPr/>
        </p:nvCxnSpPr>
        <p:spPr>
          <a:xfrm flipH="1">
            <a:off x="7206802" y="5031087"/>
            <a:ext cx="4985198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0CBC2A1-BC50-27CD-C764-435FA7A59ABD}"/>
              </a:ext>
            </a:extLst>
          </p:cNvPr>
          <p:cNvCxnSpPr>
            <a:cxnSpLocks/>
          </p:cNvCxnSpPr>
          <p:nvPr/>
        </p:nvCxnSpPr>
        <p:spPr>
          <a:xfrm>
            <a:off x="7206802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35843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09CE9-F18C-5020-CF43-5960AFE654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36222" y="1246912"/>
            <a:ext cx="8919556" cy="3050766"/>
          </a:xfrm>
        </p:spPr>
        <p:txBody>
          <a:bodyPr anchor="ctr">
            <a:normAutofit/>
          </a:bodyPr>
          <a:lstStyle>
            <a:lvl1pPr algn="ctr">
              <a:defRPr sz="5400">
                <a:solidFill>
                  <a:schemeClr val="tx2">
                    <a:alpha val="9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6B3AA5-F8D6-AB69-241F-6F8F1DD41E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51378" y="5345199"/>
            <a:ext cx="7289245" cy="118403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E78127-77D8-DF99-4AE0-F322800B0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D04168-7304-004B-C2F6-42E38FDC5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545FD76-1DE6-4A1C-9609-D2819734F8F3}" type="datetimeFigureOut">
              <a:rPr lang="en-US" dirty="0"/>
              <a:t>8/16/2026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C58464-EE0F-215A-2FA8-F434687B9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DF60B60-82CA-4BB9-BA6E-A62FADF2374B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7C4A186-7A3C-2849-F4A7-5B5565EB29E6}"/>
              </a:ext>
            </a:extLst>
          </p:cNvPr>
          <p:cNvCxnSpPr>
            <a:cxnSpLocks/>
          </p:cNvCxnSpPr>
          <p:nvPr/>
        </p:nvCxnSpPr>
        <p:spPr>
          <a:xfrm flipH="1">
            <a:off x="0" y="5016433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0C7E87E-EC44-47F9-6172-5EEA03DE5D87}"/>
              </a:ext>
            </a:extLst>
          </p:cNvPr>
          <p:cNvCxnSpPr>
            <a:cxnSpLocks/>
          </p:cNvCxnSpPr>
          <p:nvPr/>
        </p:nvCxnSpPr>
        <p:spPr>
          <a:xfrm flipH="1">
            <a:off x="0" y="459932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40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2D6AD5-6168-B411-89A9-90C82303B25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EC6DA0-2CB8-AFC5-DB06-AB9235983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38087"/>
            <a:ext cx="8932653" cy="3312544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6600" cap="all" baseline="0">
                <a:solidFill>
                  <a:schemeClr val="tx2">
                    <a:alpha val="5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E16A9F-28B9-2207-66D3-D952EB7EC8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-789870"/>
            <a:ext cx="10515600" cy="638352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B3F77F-C41D-1011-B9F4-A5DE814F4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751081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8CD507-925C-84B3-8F49-9F3B91209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AC6904D-FBDC-4E1E-863E-C45FAD9DD85B}" type="datetimeFigureOut">
              <a:rPr lang="en-US" dirty="0"/>
              <a:t>8/16/2026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13B4AE-32E8-CAFF-4A3C-6CBE4FFFA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DF60B60-82CA-4BB9-BA6E-A62FADF2374B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BFA0DE8-9E4B-D747-CB64-14B8DEDC02EA}"/>
              </a:ext>
            </a:extLst>
          </p:cNvPr>
          <p:cNvCxnSpPr>
            <a:cxnSpLocks/>
          </p:cNvCxnSpPr>
          <p:nvPr/>
        </p:nvCxnSpPr>
        <p:spPr>
          <a:xfrm flipH="1">
            <a:off x="0" y="1367580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1EB75EB-F27E-271A-C843-4096E1F19057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76058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02D18C4-A1A8-6CA4-B4A2-0E9791DC7F7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63362"/>
            <a:ext cx="11122507" cy="1162632"/>
          </a:xfrm>
        </p:spPr>
        <p:txBody>
          <a:bodyPr anchor="ctr">
            <a:normAutofit/>
          </a:bodyPr>
          <a:lstStyle>
            <a:lvl1pPr>
              <a:defRPr sz="7200"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79085" y="2249592"/>
            <a:ext cx="6100623" cy="3787062"/>
          </a:xfrm>
        </p:spPr>
        <p:txBody>
          <a:bodyPr vert="horz" lIns="91440" tIns="45720" rIns="91440" bIns="45720" rtlCol="0">
            <a:normAutofit/>
          </a:bodyPr>
          <a:lstStyle>
            <a:lvl1pPr marL="457200" indent="-457200">
              <a:buFont typeface="+mj-lt"/>
              <a:buAutoNum type="arabicPeriod"/>
              <a:defRPr lang="en-US" sz="2000" dirty="0">
                <a:solidFill>
                  <a:schemeClr val="tx2"/>
                </a:solidFill>
              </a:defRPr>
            </a:lvl1pPr>
            <a:lvl2pPr marL="571500" indent="-342900">
              <a:buFont typeface="+mj-lt"/>
              <a:buAutoNum type="arabicPeriod"/>
              <a:defRPr lang="en-US" sz="1800" dirty="0">
                <a:solidFill>
                  <a:schemeClr val="tx2"/>
                </a:solidFill>
              </a:defRPr>
            </a:lvl2pPr>
            <a:lvl3pPr marL="800100" indent="-342900">
              <a:buFont typeface="+mj-lt"/>
              <a:buAutoNum type="arabicPeriod"/>
              <a:defRPr lang="en-US" sz="1600" dirty="0">
                <a:solidFill>
                  <a:schemeClr val="tx2"/>
                </a:solidFill>
              </a:defRPr>
            </a:lvl3pPr>
            <a:lvl4pPr marL="1028700" indent="-342900">
              <a:buFont typeface="+mj-lt"/>
              <a:buAutoNum type="arabicPeriod"/>
              <a:defRPr lang="en-US" sz="1400" dirty="0">
                <a:solidFill>
                  <a:schemeClr val="tx2"/>
                </a:solidFill>
              </a:defRPr>
            </a:lvl4pPr>
            <a:lvl5pPr marL="1257300" indent="-342900">
              <a:buFont typeface="+mj-lt"/>
              <a:buAutoNum type="arabicPeriod"/>
              <a:defRPr lang="en-US" sz="1400" dirty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0A4DEF6-D0A5-424B-A38E-B8028C0E0D08}" type="datetimeFigureOut">
              <a:rPr lang="en-US" dirty="0"/>
              <a:t>8/16/2026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DF60B60-82CA-4BB9-BA6E-A62FADF2374B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06406B2-3637-5849-867E-A0ADC9D9DDA5}"/>
              </a:ext>
            </a:extLst>
          </p:cNvPr>
          <p:cNvCxnSpPr>
            <a:cxnSpLocks/>
          </p:cNvCxnSpPr>
          <p:nvPr/>
        </p:nvCxnSpPr>
        <p:spPr>
          <a:xfrm flipH="1">
            <a:off x="0" y="1822345"/>
            <a:ext cx="1219200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0E47964-42E3-09B6-4B3F-96D1060D072B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72240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0D0A563-F018-FFF1-B911-D69E42CEEAA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63362"/>
            <a:ext cx="11130279" cy="1162632"/>
          </a:xfrm>
        </p:spPr>
        <p:txBody>
          <a:bodyPr anchor="ctr">
            <a:normAutofit/>
          </a:bodyPr>
          <a:lstStyle>
            <a:lvl1pPr>
              <a:defRPr sz="7200"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5DA2B1BE-7DDF-C8B4-6A46-21B5A0257D08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-8364" y="1830708"/>
            <a:ext cx="5321063" cy="4563927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846552" y="2191025"/>
            <a:ext cx="5733156" cy="3894807"/>
          </a:xfrm>
        </p:spPr>
        <p:txBody>
          <a:bodyPr vert="horz" lIns="91440" tIns="45720" rIns="91440" bIns="45720" rtlCol="0">
            <a:normAutofit/>
          </a:bodyPr>
          <a:lstStyle>
            <a:lvl1pPr marL="457200" indent="-457200">
              <a:buFont typeface="+mj-lt"/>
              <a:buAutoNum type="arabicPeriod"/>
              <a:defRPr lang="en-US" sz="2000" dirty="0">
                <a:solidFill>
                  <a:schemeClr val="tx2"/>
                </a:solidFill>
              </a:defRPr>
            </a:lvl1pPr>
            <a:lvl2pPr marL="571500" indent="-342900">
              <a:buFont typeface="+mj-lt"/>
              <a:buAutoNum type="arabicPeriod"/>
              <a:defRPr lang="en-US" sz="1800" dirty="0">
                <a:solidFill>
                  <a:schemeClr val="tx2"/>
                </a:solidFill>
              </a:defRPr>
            </a:lvl2pPr>
            <a:lvl3pPr marL="800100" indent="-342900">
              <a:buFont typeface="+mj-lt"/>
              <a:buAutoNum type="arabicPeriod"/>
              <a:defRPr lang="en-US" sz="1600" dirty="0">
                <a:solidFill>
                  <a:schemeClr val="tx2"/>
                </a:solidFill>
              </a:defRPr>
            </a:lvl3pPr>
            <a:lvl4pPr marL="1028700" indent="-342900">
              <a:buFont typeface="+mj-lt"/>
              <a:buAutoNum type="arabicPeriod"/>
              <a:defRPr lang="en-US" sz="1400" dirty="0">
                <a:solidFill>
                  <a:schemeClr val="tx2"/>
                </a:solidFill>
              </a:defRPr>
            </a:lvl4pPr>
            <a:lvl5pPr marL="1257300" indent="-342900">
              <a:buFont typeface="+mj-lt"/>
              <a:buAutoNum type="arabicPeriod"/>
              <a:defRPr lang="en-US" sz="1400" dirty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B09C6DF-0139-4F07-BF9C-4309D0C9DCA6}" type="datetimeFigureOut">
              <a:rPr lang="en-US" dirty="0"/>
              <a:t>8/16/2026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DF60B60-82CA-4BB9-BA6E-A62FADF2374B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06406B2-3637-5849-867E-A0ADC9D9DDA5}"/>
              </a:ext>
            </a:extLst>
          </p:cNvPr>
          <p:cNvCxnSpPr>
            <a:cxnSpLocks/>
          </p:cNvCxnSpPr>
          <p:nvPr/>
        </p:nvCxnSpPr>
        <p:spPr>
          <a:xfrm flipH="1">
            <a:off x="0" y="1822345"/>
            <a:ext cx="12192000" cy="0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0E47964-42E3-09B6-4B3F-96D1060D072B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5DD64E6-257D-65B2-D2A7-6A1002E1E580}"/>
              </a:ext>
            </a:extLst>
          </p:cNvPr>
          <p:cNvCxnSpPr>
            <a:cxnSpLocks/>
          </p:cNvCxnSpPr>
          <p:nvPr/>
        </p:nvCxnSpPr>
        <p:spPr>
          <a:xfrm>
            <a:off x="5321065" y="1822345"/>
            <a:ext cx="0" cy="5035655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72397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1299"/>
            <a:ext cx="3689927" cy="1486906"/>
          </a:xfrm>
        </p:spPr>
        <p:txBody>
          <a:bodyPr anchor="t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04515" y="2780147"/>
            <a:ext cx="6567049" cy="335987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F4876-ABF6-46E9-AABB-9093F4FF9830}" type="datetimeFigureOut">
              <a:rPr lang="en-US" dirty="0"/>
              <a:t>8/16/2026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60B60-82CA-4BB9-BA6E-A62FADF2374B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BF5C1EC-3A2D-2E51-65A6-6155B3776C4A}"/>
              </a:ext>
            </a:extLst>
          </p:cNvPr>
          <p:cNvCxnSpPr>
            <a:cxnSpLocks/>
          </p:cNvCxnSpPr>
          <p:nvPr/>
        </p:nvCxnSpPr>
        <p:spPr>
          <a:xfrm flipH="1">
            <a:off x="0" y="2397979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797FEE4-9B7E-CE58-4AA3-EC6E3E1861F3}"/>
              </a:ext>
            </a:extLst>
          </p:cNvPr>
          <p:cNvCxnSpPr>
            <a:cxnSpLocks/>
          </p:cNvCxnSpPr>
          <p:nvPr/>
        </p:nvCxnSpPr>
        <p:spPr>
          <a:xfrm>
            <a:off x="4469245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8185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3360">
          <p15:clr>
            <a:srgbClr val="FBAE40"/>
          </p15:clr>
        </p15:guide>
        <p15:guide id="4" pos="2928">
          <p15:clr>
            <a:srgbClr val="FBAE40"/>
          </p15:clr>
        </p15:guide>
        <p15:guide id="5" pos="475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0473"/>
            <a:ext cx="3664107" cy="3864052"/>
          </a:xfrm>
        </p:spPr>
        <p:txBody>
          <a:bodyPr anchor="t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70349" y="720473"/>
            <a:ext cx="6309360" cy="530352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649F7-D424-4C48-9F1A-F9E6A6464624}" type="datetimeFigureOut">
              <a:rPr lang="en-US" dirty="0"/>
              <a:t>8/16/2026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60B60-82CA-4BB9-BA6E-A62FADF2374B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6AC6891-86BE-FF41-E94E-AB97BFFB2322}"/>
              </a:ext>
            </a:extLst>
          </p:cNvPr>
          <p:cNvCxnSpPr>
            <a:cxnSpLocks/>
          </p:cNvCxnSpPr>
          <p:nvPr/>
        </p:nvCxnSpPr>
        <p:spPr>
          <a:xfrm>
            <a:off x="4643464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151E503-5C8D-3CDA-5CC2-A56B4F2A6193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78972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1995" y="559483"/>
            <a:ext cx="6825541" cy="1009652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0" y="1"/>
            <a:ext cx="4421943" cy="6398066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1994" y="2083837"/>
            <a:ext cx="6825545" cy="40325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811448" cy="365125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0E1D3-9897-4F62-B20F-820B96903029}" type="datetimeFigureOut">
              <a:rPr lang="en-US" dirty="0"/>
              <a:t>8/16/2026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60B60-82CA-4BB9-BA6E-A62FADF2374B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254AC9C-312D-B8D1-5D04-C0CE07B464DB}"/>
              </a:ext>
            </a:extLst>
          </p:cNvPr>
          <p:cNvCxnSpPr>
            <a:cxnSpLocks/>
          </p:cNvCxnSpPr>
          <p:nvPr/>
        </p:nvCxnSpPr>
        <p:spPr>
          <a:xfrm>
            <a:off x="4423739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F4F50A3-1136-13EC-E499-F6DDCBFE375F}"/>
              </a:ext>
            </a:extLst>
          </p:cNvPr>
          <p:cNvCxnSpPr>
            <a:cxnSpLocks/>
          </p:cNvCxnSpPr>
          <p:nvPr/>
        </p:nvCxnSpPr>
        <p:spPr>
          <a:xfrm flipH="1">
            <a:off x="4425535" y="1810995"/>
            <a:ext cx="7750205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23735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2644" y="669386"/>
            <a:ext cx="7231413" cy="100584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-8994" y="-5468"/>
            <a:ext cx="4011836" cy="6398066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72644" y="1812385"/>
            <a:ext cx="7231407" cy="442385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408011" cy="365125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CD3FE-7D00-42C8-AAA1-7B40C480DCD1}" type="datetimeFigureOut">
              <a:rPr lang="en-US" dirty="0"/>
              <a:t>8/16/2026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60B60-82CA-4BB9-BA6E-A62FADF2374B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254AC9C-312D-B8D1-5D04-C0CE07B464DB}"/>
              </a:ext>
            </a:extLst>
          </p:cNvPr>
          <p:cNvCxnSpPr>
            <a:cxnSpLocks/>
          </p:cNvCxnSpPr>
          <p:nvPr/>
        </p:nvCxnSpPr>
        <p:spPr>
          <a:xfrm>
            <a:off x="4009212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286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80728"/>
            <a:ext cx="7281067" cy="100584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823728"/>
            <a:ext cx="7281061" cy="442385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8195489" y="-6369"/>
            <a:ext cx="3996512" cy="6398066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49B79-F7D7-4EC9-B39C-00EEEABA80A1}" type="datetimeFigureOut">
              <a:rPr lang="en-US" dirty="0"/>
              <a:t>8/16/2026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60B60-82CA-4BB9-BA6E-A62FADF2374B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254AC9C-312D-B8D1-5D04-C0CE07B464DB}"/>
              </a:ext>
            </a:extLst>
          </p:cNvPr>
          <p:cNvCxnSpPr>
            <a:cxnSpLocks/>
          </p:cNvCxnSpPr>
          <p:nvPr/>
        </p:nvCxnSpPr>
        <p:spPr>
          <a:xfrm>
            <a:off x="8188287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60649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78485"/>
            <a:ext cx="6369370" cy="100584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821484"/>
            <a:ext cx="6360897" cy="429218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7277100" y="-8466"/>
            <a:ext cx="4914895" cy="6398066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DCB73-7DFF-41E9-94AE-03DDC0983D5F}" type="datetimeFigureOut">
              <a:rPr lang="en-US" dirty="0"/>
              <a:t>8/16/2026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60B60-82CA-4BB9-BA6E-A62FADF2374B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254AC9C-312D-B8D1-5D04-C0CE07B464DB}"/>
              </a:ext>
            </a:extLst>
          </p:cNvPr>
          <p:cNvCxnSpPr>
            <a:cxnSpLocks/>
          </p:cNvCxnSpPr>
          <p:nvPr/>
        </p:nvCxnSpPr>
        <p:spPr>
          <a:xfrm>
            <a:off x="7270008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53100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8145"/>
            <a:ext cx="4000497" cy="1679799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272880"/>
            <a:ext cx="4000497" cy="378949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4853323" y="0"/>
            <a:ext cx="7338676" cy="6396281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4000500" cy="365125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F4089-B0B8-4924-B485-08424C78200C}" type="datetimeFigureOut">
              <a:rPr lang="en-US" dirty="0"/>
              <a:t>8/16/2026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60B60-82CA-4BB9-BA6E-A62FADF2374B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9854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254AC9C-312D-B8D1-5D04-C0CE07B464DB}"/>
              </a:ext>
            </a:extLst>
          </p:cNvPr>
          <p:cNvCxnSpPr>
            <a:cxnSpLocks/>
          </p:cNvCxnSpPr>
          <p:nvPr/>
        </p:nvCxnSpPr>
        <p:spPr>
          <a:xfrm>
            <a:off x="4849331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34842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39922" y="458144"/>
            <a:ext cx="3909536" cy="148587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0" y="0"/>
            <a:ext cx="7268396" cy="6396281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39922" y="2463789"/>
            <a:ext cx="3909534" cy="356109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8CB80-2CED-4065-90C6-0999AD9EE7FC}" type="datetimeFigureOut">
              <a:rPr lang="en-US" dirty="0"/>
              <a:t>8/16/2026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60B60-82CA-4BB9-BA6E-A62FADF2374B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9854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A67EAFE-BA64-2156-9780-AA400F6F3026}"/>
              </a:ext>
            </a:extLst>
          </p:cNvPr>
          <p:cNvCxnSpPr>
            <a:cxnSpLocks/>
          </p:cNvCxnSpPr>
          <p:nvPr/>
        </p:nvCxnSpPr>
        <p:spPr>
          <a:xfrm>
            <a:off x="7271347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54F2342-86AA-3EA4-EB3B-2DB8D68315E6}"/>
              </a:ext>
            </a:extLst>
          </p:cNvPr>
          <p:cNvCxnSpPr>
            <a:cxnSpLocks/>
          </p:cNvCxnSpPr>
          <p:nvPr/>
        </p:nvCxnSpPr>
        <p:spPr>
          <a:xfrm flipH="1">
            <a:off x="7227420" y="2212509"/>
            <a:ext cx="493532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19355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3959530"/>
            <a:ext cx="3512409" cy="2199864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B441162-7125-E1E0-1B82-FCC1AB84227E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-857" y="-1"/>
            <a:ext cx="12192000" cy="3648977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23613" y="3959529"/>
            <a:ext cx="7011183" cy="236954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1" y="6445997"/>
            <a:ext cx="3543299" cy="365125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6F935-567A-4AB6-A4C6-B3A3054E8F97}" type="datetimeFigureOut">
              <a:rPr lang="en-US" dirty="0"/>
              <a:t>8/16/2026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60B60-82CA-4BB9-BA6E-A62FADF2374B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FF81FBD-8D67-B5E4-E22E-74E98EF89F80}"/>
              </a:ext>
            </a:extLst>
          </p:cNvPr>
          <p:cNvCxnSpPr>
            <a:cxnSpLocks/>
          </p:cNvCxnSpPr>
          <p:nvPr/>
        </p:nvCxnSpPr>
        <p:spPr>
          <a:xfrm>
            <a:off x="4290210" y="3648976"/>
            <a:ext cx="0" cy="3209024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8892870-1B48-2935-21E8-3BC6F474C661}"/>
              </a:ext>
            </a:extLst>
          </p:cNvPr>
          <p:cNvCxnSpPr>
            <a:cxnSpLocks/>
          </p:cNvCxnSpPr>
          <p:nvPr/>
        </p:nvCxnSpPr>
        <p:spPr>
          <a:xfrm flipH="1">
            <a:off x="-857" y="3654706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7820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377072"/>
            <a:ext cx="4958078" cy="1225485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0" y="1842182"/>
            <a:ext cx="5758172" cy="4546457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6142" y="377072"/>
            <a:ext cx="5558655" cy="579748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A916D-ECC1-407F-9384-347E5A5D7944}" type="datetimeFigureOut">
              <a:rPr lang="en-US" dirty="0"/>
              <a:t>8/16/2026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60B60-82CA-4BB9-BA6E-A62FADF2374B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57362BC-3CD1-D6F5-CB9B-B2AAD7EAD176}"/>
              </a:ext>
            </a:extLst>
          </p:cNvPr>
          <p:cNvCxnSpPr>
            <a:cxnSpLocks/>
          </p:cNvCxnSpPr>
          <p:nvPr/>
        </p:nvCxnSpPr>
        <p:spPr>
          <a:xfrm>
            <a:off x="5758174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F4F50A3-1136-13EC-E499-F6DDCBFE375F}"/>
              </a:ext>
            </a:extLst>
          </p:cNvPr>
          <p:cNvCxnSpPr>
            <a:cxnSpLocks/>
          </p:cNvCxnSpPr>
          <p:nvPr/>
        </p:nvCxnSpPr>
        <p:spPr>
          <a:xfrm flipH="1">
            <a:off x="0" y="1842182"/>
            <a:ext cx="5758174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774198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407360"/>
            <a:ext cx="3543299" cy="1732820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1" y="466598"/>
            <a:ext cx="4460008" cy="3601433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92635" y="788704"/>
            <a:ext cx="6730614" cy="538585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543300" cy="365125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924D50-69B4-493C-AABF-53036A8D79F6}" type="datetimeFigureOut">
              <a:rPr lang="en-US" dirty="0"/>
              <a:t>8/16/2026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60B60-82CA-4BB9-BA6E-A62FADF2374B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F4F50A3-1136-13EC-E499-F6DDCBFE375F}"/>
              </a:ext>
            </a:extLst>
          </p:cNvPr>
          <p:cNvCxnSpPr>
            <a:cxnSpLocks/>
          </p:cNvCxnSpPr>
          <p:nvPr/>
        </p:nvCxnSpPr>
        <p:spPr>
          <a:xfrm flipH="1">
            <a:off x="0" y="4068031"/>
            <a:ext cx="4460008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57362BC-3CD1-D6F5-CB9B-B2AAD7EAD176}"/>
              </a:ext>
            </a:extLst>
          </p:cNvPr>
          <p:cNvCxnSpPr>
            <a:cxnSpLocks/>
          </p:cNvCxnSpPr>
          <p:nvPr/>
        </p:nvCxnSpPr>
        <p:spPr>
          <a:xfrm>
            <a:off x="4460008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40D58D1-F636-9620-582E-41FBB707092B}"/>
              </a:ext>
            </a:extLst>
          </p:cNvPr>
          <p:cNvCxnSpPr>
            <a:cxnSpLocks/>
          </p:cNvCxnSpPr>
          <p:nvPr/>
        </p:nvCxnSpPr>
        <p:spPr>
          <a:xfrm flipH="1">
            <a:off x="0" y="459932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2326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91F6A87-CC7B-D4BD-1F6A-C3948971C39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88720" y="5264780"/>
            <a:ext cx="9811512" cy="1097280"/>
          </a:xfrm>
        </p:spPr>
        <p:txBody>
          <a:bodyPr vert="horz" lIns="91440" tIns="45720" rIns="91440" bIns="45720" rtlCol="0" anchor="ctr">
            <a:normAutofit/>
          </a:bodyPr>
          <a:lstStyle>
            <a:lvl1pPr algn="ctr">
              <a:lnSpc>
                <a:spcPct val="110000"/>
              </a:lnSpc>
              <a:defRPr lang="en-US" sz="2800" cap="all" spc="100" baseline="0" dirty="0">
                <a:solidFill>
                  <a:schemeClr val="tx2">
                    <a:lumMod val="9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title styles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93776" y="676656"/>
            <a:ext cx="11201400" cy="4206240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sz="27800" dirty="0">
                <a:solidFill>
                  <a:schemeClr val="tx2">
                    <a:lumMod val="9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3AE6E7-0083-439C-3FBC-ADE4BE86C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5DF3EE-4BB8-4215-E053-BF3ED1BB9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AC8F0CD-CD54-4D81-AA2E-F53EC757E087}" type="datetimeFigureOut">
              <a:rPr lang="en-US" dirty="0"/>
              <a:t>8/16/2026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F27A3B-009A-1790-7D93-9A1F6351D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DF60B60-82CA-4BB9-BA6E-A62FADF2374B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5ADE133-B5D6-A1C0-6BC9-C723D008EC0E}"/>
              </a:ext>
            </a:extLst>
          </p:cNvPr>
          <p:cNvCxnSpPr>
            <a:cxnSpLocks/>
          </p:cNvCxnSpPr>
          <p:nvPr/>
        </p:nvCxnSpPr>
        <p:spPr>
          <a:xfrm flipH="1">
            <a:off x="0" y="5018669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12276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5FB4D75-C478-D736-9A5A-B64DEA24103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693103" y="1493520"/>
            <a:ext cx="8805794" cy="3911600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10000"/>
              </a:lnSpc>
              <a:buNone/>
              <a:defRPr sz="5400" b="0">
                <a:solidFill>
                  <a:schemeClr val="tx2"/>
                </a:solidFill>
                <a:latin typeface="+mj-lt"/>
              </a:defRPr>
            </a:lvl1pPr>
            <a:lvl2pPr marL="228600" indent="0" algn="ctr">
              <a:lnSpc>
                <a:spcPct val="110000"/>
              </a:lnSpc>
              <a:buNone/>
              <a:defRPr sz="4800" b="0">
                <a:solidFill>
                  <a:schemeClr val="tx2"/>
                </a:solidFill>
                <a:latin typeface="+mj-lt"/>
              </a:defRPr>
            </a:lvl2pPr>
            <a:lvl3pPr marL="457200" indent="0" algn="ctr">
              <a:lnSpc>
                <a:spcPct val="110000"/>
              </a:lnSpc>
              <a:buNone/>
              <a:defRPr sz="4400" b="0">
                <a:solidFill>
                  <a:schemeClr val="tx2"/>
                </a:solidFill>
                <a:latin typeface="+mj-lt"/>
              </a:defRPr>
            </a:lvl3pPr>
            <a:lvl4pPr marL="685800" indent="0" algn="ctr">
              <a:lnSpc>
                <a:spcPct val="110000"/>
              </a:lnSpc>
              <a:buNone/>
              <a:defRPr sz="4000" b="0">
                <a:solidFill>
                  <a:schemeClr val="tx2"/>
                </a:solidFill>
                <a:latin typeface="+mj-lt"/>
              </a:defRPr>
            </a:lvl4pPr>
            <a:lvl5pPr marL="914400" indent="0" algn="ctr">
              <a:lnSpc>
                <a:spcPct val="110000"/>
              </a:lnSpc>
              <a:buNone/>
              <a:defRPr sz="3600" b="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0080" y="6445997"/>
            <a:ext cx="3949302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036278C-3666-418F-8843-DFD38DB3098D}" type="datetimeFigureOut">
              <a:rPr lang="en-US" dirty="0"/>
              <a:t>8/16/2026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DF60B60-82CA-4BB9-BA6E-A62FADF2374B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C547212-589F-3A5C-2FF7-4E576B86E3A3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40E2472-A2D0-B3C4-1592-E709B2EC9AD6}"/>
              </a:ext>
            </a:extLst>
          </p:cNvPr>
          <p:cNvCxnSpPr>
            <a:cxnSpLocks/>
          </p:cNvCxnSpPr>
          <p:nvPr/>
        </p:nvCxnSpPr>
        <p:spPr>
          <a:xfrm>
            <a:off x="457200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F95E0B8-C6C3-8095-D53F-FB618E39D7CE}"/>
              </a:ext>
            </a:extLst>
          </p:cNvPr>
          <p:cNvCxnSpPr>
            <a:cxnSpLocks/>
          </p:cNvCxnSpPr>
          <p:nvPr/>
        </p:nvCxnSpPr>
        <p:spPr>
          <a:xfrm flipH="1">
            <a:off x="0" y="459932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AD2DF78-237E-1E21-906C-273460F55F55}"/>
              </a:ext>
            </a:extLst>
          </p:cNvPr>
          <p:cNvCxnSpPr>
            <a:cxnSpLocks/>
          </p:cNvCxnSpPr>
          <p:nvPr/>
        </p:nvCxnSpPr>
        <p:spPr>
          <a:xfrm>
            <a:off x="11734800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94904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47DCC75-46A1-9953-9459-89672E9805A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40000"/>
              <a:lumOff val="6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62100" y="5549186"/>
            <a:ext cx="9199563" cy="65318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b="1" cap="all" spc="100" baseline="0">
                <a:solidFill>
                  <a:schemeClr val="accent4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36EB602-83B2-B4EE-7805-FB94B774766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1562100" y="823913"/>
            <a:ext cx="9199563" cy="3614737"/>
          </a:xfrm>
        </p:spPr>
        <p:txBody>
          <a:bodyPr anchor="ctr">
            <a:normAutofit/>
          </a:bodyPr>
          <a:lstStyle>
            <a:lvl1pPr marL="182880" indent="-182880">
              <a:buNone/>
              <a:defRPr sz="4000">
                <a:solidFill>
                  <a:schemeClr val="accent4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5800" y="6445997"/>
            <a:ext cx="3949302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92870C0-88BC-4B78-A088-30393EC7D39C}" type="datetimeFigureOut">
              <a:rPr lang="en-US" dirty="0"/>
              <a:t>8/16/2026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DF60B60-82CA-4BB9-BA6E-A62FADF2374B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41338F2-C5CE-45A7-7748-138B348BA1E7}"/>
              </a:ext>
            </a:extLst>
          </p:cNvPr>
          <p:cNvCxnSpPr>
            <a:cxnSpLocks/>
          </p:cNvCxnSpPr>
          <p:nvPr/>
        </p:nvCxnSpPr>
        <p:spPr>
          <a:xfrm>
            <a:off x="457200" y="0"/>
            <a:ext cx="0" cy="6858000"/>
          </a:xfrm>
          <a:prstGeom prst="line">
            <a:avLst/>
          </a:prstGeom>
          <a:ln w="9525">
            <a:solidFill>
              <a:schemeClr val="tx2"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14CFB94-8AB3-65DB-0B12-EC4F7DAAEBF7}"/>
              </a:ext>
            </a:extLst>
          </p:cNvPr>
          <p:cNvCxnSpPr>
            <a:cxnSpLocks/>
          </p:cNvCxnSpPr>
          <p:nvPr/>
        </p:nvCxnSpPr>
        <p:spPr>
          <a:xfrm flipH="1">
            <a:off x="0" y="5043721"/>
            <a:ext cx="12192000" cy="0"/>
          </a:xfrm>
          <a:prstGeom prst="line">
            <a:avLst/>
          </a:prstGeom>
          <a:ln w="9525">
            <a:solidFill>
              <a:schemeClr val="tx2"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33906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27BF6-CDFA-AAF4-F7FD-F4F8D06FF2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5309"/>
            <a:ext cx="11277600" cy="914400"/>
          </a:xfrm>
        </p:spPr>
        <p:txBody>
          <a:bodyPr anchor="ctr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AB1904-05A3-AF54-90B7-8B4E5E9BFC62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55613" y="1677988"/>
            <a:ext cx="5181600" cy="449897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0D15555F-2C1E-04D7-CE37-D06ABFB5685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553200" y="1677988"/>
            <a:ext cx="5180013" cy="449897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108197-F703-726D-4372-C7520052D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5FAA39-5E1E-3A94-5A04-C36BA19E34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F022F-161E-41B9-A1BC-CC85E43B1AF4}" type="datetimeFigureOut">
              <a:rPr lang="en-US" dirty="0"/>
              <a:t>8/16/2026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E80595-19B6-01B9-FCF5-F94B0C1BB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60B60-82CA-4BB9-BA6E-A62FADF2374B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2C5098A-8A29-951C-ABCF-B4C329C3A94F}"/>
              </a:ext>
            </a:extLst>
          </p:cNvPr>
          <p:cNvCxnSpPr>
            <a:cxnSpLocks/>
          </p:cNvCxnSpPr>
          <p:nvPr/>
        </p:nvCxnSpPr>
        <p:spPr>
          <a:xfrm>
            <a:off x="6096000" y="1362719"/>
            <a:ext cx="0" cy="5490348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54A1D01-2B46-73F0-8DC7-926AA95F7DFC}"/>
              </a:ext>
            </a:extLst>
          </p:cNvPr>
          <p:cNvCxnSpPr>
            <a:cxnSpLocks/>
          </p:cNvCxnSpPr>
          <p:nvPr/>
        </p:nvCxnSpPr>
        <p:spPr>
          <a:xfrm flipH="1">
            <a:off x="0" y="1362719"/>
            <a:ext cx="12200040" cy="0"/>
          </a:xfrm>
          <a:prstGeom prst="line">
            <a:avLst/>
          </a:prstGeom>
          <a:ln w="9525">
            <a:solidFill>
              <a:srgbClr val="616867">
                <a:alpha val="4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627005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F27A1-B3E2-4312-9475-76586DB13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276838"/>
            <a:ext cx="11274552" cy="9144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FD6984-5D8F-6F35-3DC2-352D46E758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199" y="1475623"/>
            <a:ext cx="5184648" cy="676690"/>
          </a:xfrm>
        </p:spPr>
        <p:txBody>
          <a:bodyPr anchor="ctr">
            <a:normAutofit/>
          </a:bodyPr>
          <a:lstStyle>
            <a:lvl1pPr marL="0" indent="0">
              <a:buNone/>
              <a:defRPr sz="1800" b="0" cap="all" spc="160" baseline="0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CD5136-48A0-D788-8CE2-627309A00EC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57200" y="2522538"/>
            <a:ext cx="5178425" cy="380682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07CEA6-7FDB-2A72-485B-D38A79C182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56248" y="1475622"/>
            <a:ext cx="5184648" cy="676690"/>
          </a:xfrm>
        </p:spPr>
        <p:txBody>
          <a:bodyPr anchor="ctr">
            <a:normAutofit/>
          </a:bodyPr>
          <a:lstStyle>
            <a:lvl1pPr marL="0" indent="0">
              <a:buNone/>
              <a:defRPr sz="1800" b="0" cap="all" spc="160" baseline="0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FC4D723F-4492-3B3B-CE74-0959714EEB1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556375" y="2522538"/>
            <a:ext cx="5175249" cy="380682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3FA108E0-63AE-4B5C-404F-AD0FEC4AB8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42E2EB77-3CF8-CDC9-D0D4-1AC07FC535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8F49A-9797-4EFB-8F78-023201B418DD}" type="datetimeFigureOut">
              <a:rPr lang="en-US" dirty="0"/>
              <a:t>8/16/2026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6918C09E-FCA3-F1F6-7408-40D98FCEA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60B60-82CA-4BB9-BA6E-A62FADF2374B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54F547E-1AC1-2FFD-3E17-DC3F25B07823}"/>
              </a:ext>
            </a:extLst>
          </p:cNvPr>
          <p:cNvCxnSpPr>
            <a:cxnSpLocks/>
          </p:cNvCxnSpPr>
          <p:nvPr/>
        </p:nvCxnSpPr>
        <p:spPr>
          <a:xfrm>
            <a:off x="6096000" y="1362719"/>
            <a:ext cx="0" cy="5490348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695E25D-D4B1-2002-F8AB-8B987C1683D9}"/>
              </a:ext>
            </a:extLst>
          </p:cNvPr>
          <p:cNvCxnSpPr>
            <a:cxnSpLocks/>
          </p:cNvCxnSpPr>
          <p:nvPr/>
        </p:nvCxnSpPr>
        <p:spPr>
          <a:xfrm flipH="1">
            <a:off x="0" y="2268129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335EA16-C700-BA75-F075-2E4BC3EAFBE2}"/>
              </a:ext>
            </a:extLst>
          </p:cNvPr>
          <p:cNvCxnSpPr>
            <a:cxnSpLocks/>
          </p:cNvCxnSpPr>
          <p:nvPr/>
        </p:nvCxnSpPr>
        <p:spPr>
          <a:xfrm flipH="1">
            <a:off x="0" y="1362719"/>
            <a:ext cx="12200040" cy="0"/>
          </a:xfrm>
          <a:prstGeom prst="line">
            <a:avLst/>
          </a:prstGeom>
          <a:ln w="9525">
            <a:solidFill>
              <a:srgbClr val="616867">
                <a:alpha val="4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723831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552C1-DD73-A90F-46E0-33A4D5580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8F8C10-87B8-01D2-2FEE-DAC41B9CF7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25E57E-7F73-3825-2158-80859BAD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57D35-FD3E-408B-A06E-7ED09E94C083}" type="datetimeFigureOut">
              <a:rPr lang="en-US" dirty="0"/>
              <a:t>8/16/2026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A634BF-792D-AC8C-B0E0-492263401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60B60-82CA-4BB9-BA6E-A62FADF2374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288789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51370D-0A93-44DD-E049-EF3265B73F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FF00A2-5853-30A7-62F5-7C7CB5A22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4BC47-E75B-4512-AE58-14F5144E068D}" type="datetimeFigureOut">
              <a:rPr lang="en-US" dirty="0"/>
              <a:t>8/16/2026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3E97DA-A7DF-E3FF-8937-F6A36D17F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60B60-82CA-4BB9-BA6E-A62FADF2374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310140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5319627-2791-E32D-91B0-857B27F822F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34473"/>
            <a:ext cx="11122508" cy="1993399"/>
          </a:xfrm>
        </p:spPr>
        <p:txBody>
          <a:bodyPr anchor="b">
            <a:normAutofit/>
          </a:bodyPr>
          <a:lstStyle>
            <a:lvl1pPr>
              <a:defRPr sz="6000"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199" y="3528206"/>
            <a:ext cx="11122509" cy="2754253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  <a:lvl2pPr marL="228600" indent="0">
              <a:buNone/>
              <a:defRPr lang="en-US" dirty="0">
                <a:solidFill>
                  <a:schemeClr val="tx2"/>
                </a:solidFill>
              </a:defRPr>
            </a:lvl2pPr>
            <a:lvl3pPr marL="457200" indent="0">
              <a:buNone/>
              <a:defRPr lang="en-US" dirty="0">
                <a:solidFill>
                  <a:schemeClr val="tx2"/>
                </a:solidFill>
              </a:defRPr>
            </a:lvl3pPr>
            <a:lvl4pPr marL="685800" indent="0">
              <a:buNone/>
              <a:defRPr lang="en-US" dirty="0">
                <a:solidFill>
                  <a:schemeClr val="tx2"/>
                </a:solidFill>
              </a:defRPr>
            </a:lvl4pPr>
            <a:lvl5pPr marL="914400" indent="0">
              <a:buNone/>
              <a:defRPr lang="en-US" dirty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DBA68D7-9D7C-42B8-BD6B-A4B9C6BE522F}" type="datetimeFigureOut">
              <a:rPr lang="en-US" dirty="0"/>
              <a:t>8/16/2026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DF60B60-82CA-4BB9-BA6E-A62FADF2374B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2128EF9-7F8A-2F1B-41F7-2CA02A35CCA7}"/>
              </a:ext>
            </a:extLst>
          </p:cNvPr>
          <p:cNvCxnSpPr>
            <a:cxnSpLocks/>
          </p:cNvCxnSpPr>
          <p:nvPr/>
        </p:nvCxnSpPr>
        <p:spPr>
          <a:xfrm flipH="1">
            <a:off x="0" y="3191402"/>
            <a:ext cx="1219200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54923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7CD7571-736E-B4CB-34E0-C8B31B5A98C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34473"/>
            <a:ext cx="6768193" cy="1993399"/>
          </a:xfrm>
        </p:spPr>
        <p:txBody>
          <a:bodyPr anchor="b">
            <a:normAutofit/>
          </a:bodyPr>
          <a:lstStyle>
            <a:lvl1pPr>
              <a:defRPr sz="6000"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200" y="3528206"/>
            <a:ext cx="6768193" cy="1794899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  <a:lvl2pPr marL="228600" indent="0">
              <a:buNone/>
              <a:defRPr lang="en-US" dirty="0">
                <a:solidFill>
                  <a:schemeClr val="tx2"/>
                </a:solidFill>
              </a:defRPr>
            </a:lvl2pPr>
            <a:lvl3pPr marL="457200" indent="0">
              <a:buNone/>
              <a:defRPr lang="en-US" dirty="0">
                <a:solidFill>
                  <a:schemeClr val="tx2"/>
                </a:solidFill>
              </a:defRPr>
            </a:lvl3pPr>
            <a:lvl4pPr marL="685800" indent="0">
              <a:buNone/>
              <a:defRPr lang="en-US" dirty="0">
                <a:solidFill>
                  <a:schemeClr val="tx2"/>
                </a:solidFill>
              </a:defRPr>
            </a:lvl4pPr>
            <a:lvl5pPr marL="914400" indent="0">
              <a:buNone/>
              <a:defRPr lang="en-US" dirty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F39104F-A6E3-4FB2-902A-A12FD9746726}" type="datetimeFigureOut">
              <a:rPr lang="en-US" dirty="0"/>
              <a:t>8/16/2026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DF60B60-82CA-4BB9-BA6E-A62FADF2374B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2128EF9-7F8A-2F1B-41F7-2CA02A35CCA7}"/>
              </a:ext>
            </a:extLst>
          </p:cNvPr>
          <p:cNvCxnSpPr>
            <a:cxnSpLocks/>
          </p:cNvCxnSpPr>
          <p:nvPr/>
        </p:nvCxnSpPr>
        <p:spPr>
          <a:xfrm flipH="1">
            <a:off x="0" y="3191402"/>
            <a:ext cx="1219200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72091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06541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607023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57148D-D60C-3359-4AC2-15A43E221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3401"/>
            <a:ext cx="10515600" cy="115728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A8731C-FCAE-A05A-5A11-57005B86AB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952E70-B2DF-717F-6373-70A688FAD8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7200" y="6445997"/>
            <a:ext cx="39493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5215E5-6146-14C5-665E-EF04630DCB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737594" y="6445997"/>
            <a:ext cx="18421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fld id="{56D64244-A3D4-4B68-87F0-779EEA0C37FE}" type="datetimeFigureOut">
              <a:rPr lang="en-US" dirty="0"/>
              <a:t>8/16/2026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E8FA3A-8706-3F4B-41CC-B024431F62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34800" y="6445997"/>
            <a:ext cx="457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fld id="{DDF60B60-82CA-4BB9-BA6E-A62FADF2374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29164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3" r:id="rId1"/>
    <p:sldLayoutId id="2147483854" r:id="rId2"/>
    <p:sldLayoutId id="2147483855" r:id="rId3"/>
    <p:sldLayoutId id="2147483856" r:id="rId4"/>
    <p:sldLayoutId id="2147483857" r:id="rId5"/>
    <p:sldLayoutId id="2147483858" r:id="rId6"/>
    <p:sldLayoutId id="2147483859" r:id="rId7"/>
    <p:sldLayoutId id="2147483860" r:id="rId8"/>
    <p:sldLayoutId id="2147483861" r:id="rId9"/>
    <p:sldLayoutId id="2147483862" r:id="rId10"/>
    <p:sldLayoutId id="2147483863" r:id="rId11"/>
    <p:sldLayoutId id="2147483864" r:id="rId12"/>
    <p:sldLayoutId id="2147483865" r:id="rId13"/>
    <p:sldLayoutId id="2147483866" r:id="rId14"/>
    <p:sldLayoutId id="2147483867" r:id="rId15"/>
    <p:sldLayoutId id="2147483868" r:id="rId16"/>
    <p:sldLayoutId id="2147483869" r:id="rId17"/>
    <p:sldLayoutId id="2147483870" r:id="rId18"/>
    <p:sldLayoutId id="2147483871" r:id="rId19"/>
    <p:sldLayoutId id="2147483872" r:id="rId20"/>
    <p:sldLayoutId id="2147483873" r:id="rId21"/>
    <p:sldLayoutId id="2147483874" r:id="rId22"/>
    <p:sldLayoutId id="2147483875" r:id="rId23"/>
    <p:sldLayoutId id="2147483876" r:id="rId24"/>
    <p:sldLayoutId id="2147483877" r:id="rId25"/>
    <p:sldLayoutId id="2147483878" r:id="rId26"/>
    <p:sldLayoutId id="2147483879" r:id="rId27"/>
    <p:sldLayoutId id="2147483880" r:id="rId28"/>
    <p:sldLayoutId id="2147483881" r:id="rId29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2808">
          <p15:clr>
            <a:srgbClr val="F26B43"/>
          </p15:clr>
        </p15:guide>
        <p15:guide id="3" pos="4872">
          <p15:clr>
            <a:srgbClr val="F26B43"/>
          </p15:clr>
        </p15:guide>
        <p15:guide id="4" pos="5160">
          <p15:clr>
            <a:srgbClr val="F26B43"/>
          </p15:clr>
        </p15:guide>
        <p15:guide id="5" pos="2520">
          <p15:clr>
            <a:srgbClr val="F26B43"/>
          </p15:clr>
        </p15:guide>
        <p15:guide id="6" pos="45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9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9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0679" y="1215277"/>
            <a:ext cx="11113698" cy="2387600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z="4400" dirty="0">
                <a:ea typeface="+mj-lt"/>
                <a:cs typeface="+mj-lt"/>
              </a:rPr>
              <a:t>Locating the Income Disparity by Sex </a:t>
            </a:r>
            <a:br>
              <a:rPr lang="en-US" sz="4400" dirty="0">
                <a:ea typeface="+mj-lt"/>
                <a:cs typeface="+mj-lt"/>
              </a:rPr>
            </a:br>
            <a:r>
              <a:rPr lang="en-US" sz="2800" dirty="0">
                <a:ea typeface="+mj-lt"/>
                <a:cs typeface="+mj-lt"/>
              </a:rPr>
              <a:t>Census Income Dataset (1994 US Census) </a:t>
            </a:r>
            <a:endParaRPr lang="en-US" sz="2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937929"/>
            <a:ext cx="9144000" cy="153894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latin typeface="+mj-lt"/>
                <a:ea typeface="Calibri"/>
                <a:cs typeface="Calibri"/>
              </a:rPr>
              <a:t>Janna Hoyne</a:t>
            </a:r>
          </a:p>
          <a:p>
            <a:r>
              <a:rPr lang="en-US" dirty="0">
                <a:latin typeface="+mj-lt"/>
                <a:ea typeface="Calibri"/>
                <a:cs typeface="Calibri"/>
              </a:rPr>
              <a:t>August 16, 2026</a:t>
            </a:r>
          </a:p>
          <a:p>
            <a:r>
              <a:rPr lang="en-US" sz="1800" dirty="0">
                <a:latin typeface="+mj-lt"/>
                <a:ea typeface="Calibri"/>
                <a:cs typeface="Calibri"/>
              </a:rPr>
              <a:t>https://github.com/jannarhoyne-sys/ANA500-Hoyne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0FEF25F-6666-B8E3-6067-A05787BAFB95}"/>
              </a:ext>
            </a:extLst>
          </p:cNvPr>
          <p:cNvSpPr txBox="1">
            <a:spLocks/>
          </p:cNvSpPr>
          <p:nvPr/>
        </p:nvSpPr>
        <p:spPr>
          <a:xfrm>
            <a:off x="965023" y="1095263"/>
            <a:ext cx="3383523" cy="37155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solidFill>
                  <a:srgbClr val="595959"/>
                </a:solidFill>
                <a:latin typeface="+mn-lt"/>
              </a:rPr>
              <a:t>Problem Statement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D67A8DA-4A84-691A-1580-5EF579D81B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5023" y="1370921"/>
            <a:ext cx="10338290" cy="2236158"/>
          </a:xfr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3200" b="1" dirty="0">
                <a:ea typeface="+mn-lt"/>
                <a:cs typeface="+mn-lt"/>
              </a:rPr>
              <a:t>Adjusting for Occupation &amp; Hours Removes the Mechanism</a:t>
            </a:r>
          </a:p>
          <a:p>
            <a:r>
              <a:rPr lang="en-US" sz="2000" dirty="0">
                <a:ea typeface="+mn-lt"/>
                <a:cs typeface="+mn-lt"/>
              </a:rPr>
              <a:t>Earnings comparisons by sex are usually adjusted for occupation and hours</a:t>
            </a:r>
          </a:p>
          <a:p>
            <a:r>
              <a:rPr lang="en-US" sz="2000" dirty="0">
                <a:ea typeface="+mn-lt"/>
                <a:cs typeface="+mn-lt"/>
              </a:rPr>
              <a:t>The residual is then reported as the disparity</a:t>
            </a:r>
          </a:p>
          <a:p>
            <a:r>
              <a:rPr lang="en-US" sz="2000" dirty="0">
                <a:ea typeface="+mn-lt"/>
                <a:cs typeface="+mn-lt"/>
              </a:rPr>
              <a:t>But access to occupations and capacity for long hours are themselves unequal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693064EF-BC3F-C9CF-0330-C843381E4BE6}"/>
              </a:ext>
            </a:extLst>
          </p:cNvPr>
          <p:cNvSpPr txBox="1">
            <a:spLocks/>
          </p:cNvSpPr>
          <p:nvPr/>
        </p:nvSpPr>
        <p:spPr>
          <a:xfrm>
            <a:off x="965023" y="4620098"/>
            <a:ext cx="9214568" cy="617207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  <a:ea typeface="+mn-lt"/>
                <a:cs typeface="+mn-lt"/>
              </a:rPr>
              <a:t>This project measures where the disparity is located, rather than adjusting it away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CF379C6-9CA8-FAA5-C287-199379E1E7F1}"/>
              </a:ext>
            </a:extLst>
          </p:cNvPr>
          <p:cNvCxnSpPr>
            <a:cxnSpLocks/>
          </p:cNvCxnSpPr>
          <p:nvPr/>
        </p:nvCxnSpPr>
        <p:spPr>
          <a:xfrm>
            <a:off x="965023" y="4113588"/>
            <a:ext cx="1022812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01685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31E3FF-6DD0-7937-F18F-476B59BA75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AC2E9CA-9B02-AD39-A62A-3696060EE636}"/>
              </a:ext>
            </a:extLst>
          </p:cNvPr>
          <p:cNvSpPr txBox="1">
            <a:spLocks/>
          </p:cNvSpPr>
          <p:nvPr/>
        </p:nvSpPr>
        <p:spPr>
          <a:xfrm>
            <a:off x="431097" y="1414413"/>
            <a:ext cx="4339208" cy="51628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solidFill>
                  <a:srgbClr val="595959"/>
                </a:solidFill>
                <a:latin typeface="+mn-lt"/>
              </a:rPr>
              <a:t>Hypothesis Formulation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3B16928-D2A3-73C0-401E-D157B2457826}"/>
              </a:ext>
            </a:extLst>
          </p:cNvPr>
          <p:cNvSpPr txBox="1">
            <a:spLocks/>
          </p:cNvSpPr>
          <p:nvPr/>
        </p:nvSpPr>
        <p:spPr>
          <a:xfrm>
            <a:off x="431097" y="2035071"/>
            <a:ext cx="11434069" cy="2008119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3200" b="1" dirty="0">
                <a:ea typeface="+mn-lt"/>
                <a:cs typeface="+mn-lt"/>
              </a:rPr>
              <a:t>The Disparity Is Not Uniform &amp; Does Not Resolve Under Matching</a:t>
            </a:r>
          </a:p>
          <a:p>
            <a:r>
              <a:rPr lang="en-US" sz="2000" dirty="0">
                <a:ea typeface="+mn-lt"/>
                <a:cs typeface="+mn-lt"/>
              </a:rPr>
              <a:t>Gap persists at equal education and equal hours</a:t>
            </a:r>
          </a:p>
          <a:p>
            <a:r>
              <a:rPr lang="en-US" sz="2000" dirty="0">
                <a:ea typeface="+mn-lt"/>
                <a:cs typeface="+mn-lt"/>
              </a:rPr>
              <a:t>Occupational composition differs by sex</a:t>
            </a:r>
          </a:p>
        </p:txBody>
      </p:sp>
    </p:spTree>
    <p:extLst>
      <p:ext uri="{BB962C8B-B14F-4D97-AF65-F5344CB8AC3E}">
        <p14:creationId xmlns:p14="http://schemas.microsoft.com/office/powerpoint/2010/main" val="16137870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9FBAF507-3DED-B8B7-5789-8FEC8E38C22A}"/>
              </a:ext>
            </a:extLst>
          </p:cNvPr>
          <p:cNvSpPr txBox="1"/>
          <p:nvPr/>
        </p:nvSpPr>
        <p:spPr>
          <a:xfrm>
            <a:off x="6777218" y="2562572"/>
            <a:ext cx="459984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dirty="0">
                <a:solidFill>
                  <a:srgbClr val="C2185B"/>
                </a:solidFill>
                <a:latin typeface="Aptos ExtraBold" panose="020B0004020202020204" pitchFamily="34" charset="0"/>
              </a:rPr>
              <a:t>32,561</a:t>
            </a:r>
            <a:endParaRPr lang="en-US" sz="11500" dirty="0">
              <a:solidFill>
                <a:srgbClr val="C2185B"/>
              </a:solidFill>
              <a:latin typeface="Aptos ExtraBold" panose="020B0004020202020204" pitchFamily="34" charset="0"/>
            </a:endParaRPr>
          </a:p>
          <a:p>
            <a:pPr algn="ctr"/>
            <a:r>
              <a:rPr lang="en-US" sz="3600" dirty="0"/>
              <a:t>Records × 15 variables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DE8230C-BC56-5AB6-3800-6658B45D06BD}"/>
              </a:ext>
            </a:extLst>
          </p:cNvPr>
          <p:cNvSpPr txBox="1">
            <a:spLocks/>
          </p:cNvSpPr>
          <p:nvPr/>
        </p:nvSpPr>
        <p:spPr>
          <a:xfrm>
            <a:off x="381769" y="1230483"/>
            <a:ext cx="3383523" cy="37155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solidFill>
                  <a:srgbClr val="595959"/>
                </a:solidFill>
                <a:latin typeface="+mn-lt"/>
              </a:rPr>
              <a:t>Acquire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93E5149-F3FF-1449-1A6B-E85BE5CBCB8E}"/>
              </a:ext>
            </a:extLst>
          </p:cNvPr>
          <p:cNvSpPr txBox="1">
            <a:spLocks/>
          </p:cNvSpPr>
          <p:nvPr/>
        </p:nvSpPr>
        <p:spPr>
          <a:xfrm>
            <a:off x="381769" y="1573399"/>
            <a:ext cx="9732356" cy="775606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3200" b="1" dirty="0">
                <a:ea typeface="+mn-lt"/>
                <a:cs typeface="+mn-lt"/>
              </a:rPr>
              <a:t>1994 US Census | Adult Income Extract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DA0A68A-5C7F-8104-A83A-CBED130BBFA8}"/>
              </a:ext>
            </a:extLst>
          </p:cNvPr>
          <p:cNvCxnSpPr>
            <a:cxnSpLocks/>
          </p:cNvCxnSpPr>
          <p:nvPr/>
        </p:nvCxnSpPr>
        <p:spPr>
          <a:xfrm>
            <a:off x="6632839" y="2714324"/>
            <a:ext cx="0" cy="2118100"/>
          </a:xfrm>
          <a:prstGeom prst="line">
            <a:avLst/>
          </a:prstGeom>
          <a:ln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FAEACC1-635C-E492-4184-04D94B6A8B93}"/>
              </a:ext>
            </a:extLst>
          </p:cNvPr>
          <p:cNvSpPr txBox="1"/>
          <p:nvPr/>
        </p:nvSpPr>
        <p:spPr>
          <a:xfrm>
            <a:off x="381769" y="3147348"/>
            <a:ext cx="610669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ea typeface="+mn-lt"/>
                <a:cs typeface="+mn-lt"/>
              </a:rPr>
              <a:t>Binary outcome: ≤ $50K vs &gt; $50K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ea typeface="+mn-lt"/>
                <a:cs typeface="+mn-lt"/>
              </a:rPr>
              <a:t>isna() returned 0 | 4,262 cells held [?]</a:t>
            </a:r>
          </a:p>
        </p:txBody>
      </p:sp>
    </p:spTree>
    <p:extLst>
      <p:ext uri="{BB962C8B-B14F-4D97-AF65-F5344CB8AC3E}">
        <p14:creationId xmlns:p14="http://schemas.microsoft.com/office/powerpoint/2010/main" val="39960826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002A23B-85E0-B0CD-E5EA-F08D1C9F35A9}"/>
              </a:ext>
            </a:extLst>
          </p:cNvPr>
          <p:cNvSpPr txBox="1">
            <a:spLocks/>
          </p:cNvSpPr>
          <p:nvPr/>
        </p:nvSpPr>
        <p:spPr>
          <a:xfrm>
            <a:off x="1496062" y="1568649"/>
            <a:ext cx="3866186" cy="51628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solidFill>
                  <a:srgbClr val="595959"/>
                </a:solidFill>
                <a:latin typeface="+mn-lt"/>
              </a:rPr>
              <a:t>Prepare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0660E5B-4A6B-5FD9-8AA8-9CA5BE9A1FE4}"/>
              </a:ext>
            </a:extLst>
          </p:cNvPr>
          <p:cNvSpPr txBox="1">
            <a:spLocks/>
          </p:cNvSpPr>
          <p:nvPr/>
        </p:nvSpPr>
        <p:spPr>
          <a:xfrm>
            <a:off x="1496062" y="2189307"/>
            <a:ext cx="9454705" cy="348438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3200" b="1" dirty="0">
                <a:ea typeface="+mn-lt"/>
                <a:cs typeface="+mn-lt"/>
              </a:rPr>
              <a:t>Missing Is Not Random | Dropping It Widens the Gap</a:t>
            </a:r>
          </a:p>
          <a:p>
            <a:r>
              <a:rPr lang="en-US" sz="2000" dirty="0">
                <a:ea typeface="+mn-lt"/>
                <a:cs typeface="+mn-lt"/>
              </a:rPr>
              <a:t>Every missing [</a:t>
            </a:r>
            <a:r>
              <a:rPr lang="en-US" sz="2000" dirty="0" err="1">
                <a:ea typeface="+mn-lt"/>
                <a:cs typeface="+mn-lt"/>
              </a:rPr>
              <a:t>workclass</a:t>
            </a:r>
            <a:r>
              <a:rPr lang="en-US" sz="2000" dirty="0">
                <a:ea typeface="+mn-lt"/>
                <a:cs typeface="+mn-lt"/>
              </a:rPr>
              <a:t>] is also missing [occupation] | 1,836 of 1,836</a:t>
            </a:r>
          </a:p>
          <a:p>
            <a:r>
              <a:rPr lang="en-US" sz="2000" dirty="0">
                <a:ea typeface="+mn-lt"/>
                <a:cs typeface="+mn-lt"/>
              </a:rPr>
              <a:t>The missing block shows a 7.7 point gap against 20.1 in complete records</a:t>
            </a:r>
          </a:p>
          <a:p>
            <a:r>
              <a:rPr lang="en-US" sz="2000" dirty="0">
                <a:ea typeface="+mn-lt"/>
                <a:cs typeface="+mn-lt"/>
              </a:rPr>
              <a:t>[capital-gain] </a:t>
            </a:r>
            <a:r>
              <a:rPr lang="en-US" sz="2000" dirty="0" err="1">
                <a:ea typeface="+mn-lt"/>
                <a:cs typeface="+mn-lt"/>
              </a:rPr>
              <a:t>topcoded</a:t>
            </a:r>
            <a:r>
              <a:rPr lang="en-US" sz="2000" dirty="0">
                <a:ea typeface="+mn-lt"/>
                <a:cs typeface="+mn-lt"/>
              </a:rPr>
              <a:t> at 99999 | documented and not used</a:t>
            </a:r>
          </a:p>
          <a:p>
            <a:r>
              <a:rPr lang="en-US" sz="2000" dirty="0">
                <a:ea typeface="+mn-lt"/>
                <a:cs typeface="+mn-lt"/>
              </a:rPr>
              <a:t>46.7% report exactly 40 hours, so hours are banded rather than continuous</a:t>
            </a:r>
          </a:p>
        </p:txBody>
      </p:sp>
    </p:spTree>
    <p:extLst>
      <p:ext uri="{BB962C8B-B14F-4D97-AF65-F5344CB8AC3E}">
        <p14:creationId xmlns:p14="http://schemas.microsoft.com/office/powerpoint/2010/main" val="17598259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A9D66-905C-4096-3608-A022F8C68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2978" y="1047704"/>
            <a:ext cx="4057462" cy="371559"/>
          </a:xfrm>
        </p:spPr>
        <p:txBody>
          <a:bodyPr anchor="b">
            <a:noAutofit/>
          </a:bodyPr>
          <a:lstStyle/>
          <a:p>
            <a:r>
              <a:rPr lang="en-US" sz="2800" dirty="0">
                <a:solidFill>
                  <a:srgbClr val="595959"/>
                </a:solidFill>
                <a:latin typeface="+mn-lt"/>
              </a:rPr>
              <a:t>Analyze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76F25D-C02A-003E-9B9B-F51DC6FEAB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92978" y="1418890"/>
            <a:ext cx="7572620" cy="2425735"/>
          </a:xfr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3600" b="1" dirty="0">
                <a:ea typeface="+mn-lt"/>
                <a:cs typeface="+mn-lt"/>
              </a:rPr>
              <a:t>The gap is located, not adjusted away</a:t>
            </a:r>
          </a:p>
          <a:p>
            <a:r>
              <a:rPr lang="en-US" sz="2000" dirty="0">
                <a:ea typeface="+mn-lt"/>
                <a:cs typeface="+mn-lt"/>
              </a:rPr>
              <a:t>Stratified comparison: rates computed inside matched cells</a:t>
            </a:r>
            <a:endParaRPr lang="en-US" dirty="0">
              <a:ea typeface="+mn-lt"/>
              <a:cs typeface="+mn-lt"/>
            </a:endParaRPr>
          </a:p>
          <a:p>
            <a:r>
              <a:rPr lang="en-US" sz="2000" dirty="0"/>
              <a:t>No model, no significance testing</a:t>
            </a:r>
          </a:p>
          <a:p>
            <a:r>
              <a:rPr lang="en-US" sz="2000" dirty="0"/>
              <a:t>Strata: education, hours, occupation, marital status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7C1AC11-4BB2-DBC9-77BA-3E2214927182}"/>
              </a:ext>
            </a:extLst>
          </p:cNvPr>
          <p:cNvSpPr txBox="1"/>
          <p:nvPr/>
        </p:nvSpPr>
        <p:spPr>
          <a:xfrm>
            <a:off x="1592978" y="4258232"/>
            <a:ext cx="31797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Absolute Disadvantage</a:t>
            </a:r>
          </a:p>
          <a:p>
            <a:r>
              <a:rPr lang="en-US" sz="2400" dirty="0"/>
              <a:t>Point Difference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CB71B97-A043-2D5E-F458-FB155C2167C7}"/>
              </a:ext>
            </a:extLst>
          </p:cNvPr>
          <p:cNvSpPr txBox="1"/>
          <p:nvPr/>
        </p:nvSpPr>
        <p:spPr>
          <a:xfrm>
            <a:off x="5985898" y="4258232"/>
            <a:ext cx="31797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Relative Disadvantage</a:t>
            </a:r>
            <a:endParaRPr lang="en-US" sz="2400" dirty="0"/>
          </a:p>
          <a:p>
            <a:r>
              <a:rPr lang="en-US" sz="2400" dirty="0"/>
              <a:t>Ratio</a:t>
            </a:r>
          </a:p>
        </p:txBody>
      </p:sp>
    </p:spTree>
    <p:extLst>
      <p:ext uri="{BB962C8B-B14F-4D97-AF65-F5344CB8AC3E}">
        <p14:creationId xmlns:p14="http://schemas.microsoft.com/office/powerpoint/2010/main" val="32511325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2FB18F-A307-805E-9DE3-09F01D1923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64792F7A-B0CD-A373-0106-C8726E029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004" y="1404267"/>
            <a:ext cx="4057462" cy="371559"/>
          </a:xfrm>
        </p:spPr>
        <p:txBody>
          <a:bodyPr anchor="b">
            <a:noAutofit/>
          </a:bodyPr>
          <a:lstStyle/>
          <a:p>
            <a:r>
              <a:rPr lang="en-US" sz="2800" dirty="0">
                <a:solidFill>
                  <a:srgbClr val="595959"/>
                </a:solidFill>
                <a:latin typeface="+mn-lt"/>
              </a:rPr>
              <a:t>Report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5B4280B-C929-5F83-A245-E612A374277D}"/>
              </a:ext>
            </a:extLst>
          </p:cNvPr>
          <p:cNvSpPr txBox="1"/>
          <p:nvPr/>
        </p:nvSpPr>
        <p:spPr>
          <a:xfrm>
            <a:off x="405004" y="3048231"/>
            <a:ext cx="3870091" cy="24160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500" dirty="0">
                <a:solidFill>
                  <a:srgbClr val="C2185B"/>
                </a:solidFill>
                <a:latin typeface="Aptos ExtraBold" panose="020B0004020202020204" pitchFamily="34" charset="0"/>
              </a:rPr>
              <a:t>19.6</a:t>
            </a:r>
          </a:p>
          <a:p>
            <a:pPr algn="ctr"/>
            <a:r>
              <a:rPr lang="en-US" sz="3600" dirty="0"/>
              <a:t>Point difference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4984AE-ABF8-6C29-0886-9118918F135A}"/>
              </a:ext>
            </a:extLst>
          </p:cNvPr>
          <p:cNvSpPr txBox="1"/>
          <p:nvPr/>
        </p:nvSpPr>
        <p:spPr>
          <a:xfrm>
            <a:off x="6943041" y="3048231"/>
            <a:ext cx="4057462" cy="24160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500" dirty="0">
                <a:solidFill>
                  <a:srgbClr val="C2185B"/>
                </a:solidFill>
                <a:latin typeface="Aptos ExtraBold" panose="020F0502020204030204" pitchFamily="34" charset="0"/>
              </a:rPr>
              <a:t>2.79</a:t>
            </a:r>
            <a:r>
              <a:rPr lang="en-US" sz="8800" dirty="0">
                <a:solidFill>
                  <a:srgbClr val="C2185B"/>
                </a:solidFill>
                <a:latin typeface="Aptos ExtraBold" panose="020F0502020204030204" pitchFamily="34" charset="0"/>
              </a:rPr>
              <a:t>×</a:t>
            </a:r>
            <a:endParaRPr lang="en-US" sz="6000" dirty="0">
              <a:solidFill>
                <a:srgbClr val="C2185B"/>
              </a:solidFill>
              <a:latin typeface="Aptos ExtraBold" panose="020F0502020204030204" pitchFamily="34" charset="0"/>
            </a:endParaRPr>
          </a:p>
          <a:p>
            <a:pPr algn="ctr"/>
            <a:r>
              <a:rPr lang="en-US" sz="3600" dirty="0"/>
              <a:t>Ratio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0AC7AB-5772-D3C0-28E5-4F9CAC329FED}"/>
              </a:ext>
            </a:extLst>
          </p:cNvPr>
          <p:cNvSpPr txBox="1"/>
          <p:nvPr/>
        </p:nvSpPr>
        <p:spPr>
          <a:xfrm>
            <a:off x="450601" y="1738299"/>
            <a:ext cx="1054990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3600" b="1" dirty="0">
                <a:ea typeface="+mn-lt"/>
                <a:cs typeface="+mn-lt"/>
              </a:rPr>
              <a:t>30.6% of Men Make Over $50K | 10.9% of Women Do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5F15DDF-77D2-8F99-5EE8-6B5EE4E03014}"/>
              </a:ext>
            </a:extLst>
          </p:cNvPr>
          <p:cNvCxnSpPr>
            <a:cxnSpLocks/>
          </p:cNvCxnSpPr>
          <p:nvPr/>
        </p:nvCxnSpPr>
        <p:spPr>
          <a:xfrm>
            <a:off x="5609068" y="3197666"/>
            <a:ext cx="0" cy="2117176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95B99B75-FFAC-4BB1-A0E6-702308A0BCDC}"/>
              </a:ext>
            </a:extLst>
          </p:cNvPr>
          <p:cNvSpPr txBox="1"/>
          <p:nvPr/>
        </p:nvSpPr>
        <p:spPr>
          <a:xfrm>
            <a:off x="6456212" y="5699810"/>
            <a:ext cx="454429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ea typeface="+mn-lt"/>
                <a:cs typeface="+mn-lt"/>
              </a:rPr>
              <a:t>Unweighted</a:t>
            </a:r>
            <a:r>
              <a:rPr lang="en-US" sz="2000" dirty="0">
                <a:solidFill>
                  <a:schemeClr val="tx1"/>
                </a:solidFill>
                <a:ea typeface="+mn-lt"/>
                <a:cs typeface="+mn-lt"/>
              </a:rPr>
              <a:t> </a:t>
            </a:r>
            <a:r>
              <a:rPr lang="en-US" sz="2000" dirty="0"/>
              <a:t>· Weighting moves it by 0.3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09105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B2FDC95D-3630-DE42-FB83-A392B2893A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171" b="-5070"/>
          <a:stretch>
            <a:fillRect/>
          </a:stretch>
        </p:blipFill>
        <p:spPr>
          <a:xfrm>
            <a:off x="277263" y="1505753"/>
            <a:ext cx="8278855" cy="5074001"/>
          </a:xfrm>
          <a:prstGeom prst="rect">
            <a:avLst/>
          </a:prstGeom>
          <a:noFill/>
        </p:spPr>
      </p:pic>
      <p:sp>
        <p:nvSpPr>
          <p:cNvPr id="26" name="Title 1">
            <a:extLst>
              <a:ext uri="{FF2B5EF4-FFF2-40B4-BE49-F238E27FC236}">
                <a16:creationId xmlns:a16="http://schemas.microsoft.com/office/drawing/2014/main" id="{0D6799AC-28FC-49FD-16BA-0835A50462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262" y="240450"/>
            <a:ext cx="4057462" cy="536790"/>
          </a:xfrm>
        </p:spPr>
        <p:txBody>
          <a:bodyPr anchor="b">
            <a:noAutofit/>
          </a:bodyPr>
          <a:lstStyle/>
          <a:p>
            <a:r>
              <a:rPr lang="en-US" sz="2800" dirty="0">
                <a:solidFill>
                  <a:srgbClr val="595959"/>
                </a:solidFill>
                <a:latin typeface="+mn-lt"/>
              </a:rPr>
              <a:t>Education</a:t>
            </a: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E0268AC6-3812-DF6D-2674-34691288F5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262" y="697653"/>
            <a:ext cx="9368392" cy="731100"/>
          </a:xfr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3600" b="1" dirty="0">
                <a:ea typeface="+mn-lt"/>
                <a:cs typeface="+mn-lt"/>
              </a:rPr>
              <a:t>The Gap Never Closes at Any Education Level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09D4891-DE48-FD7A-2C49-87108096ADB7}"/>
              </a:ext>
            </a:extLst>
          </p:cNvPr>
          <p:cNvSpPr txBox="1"/>
          <p:nvPr/>
        </p:nvSpPr>
        <p:spPr>
          <a:xfrm>
            <a:off x="8692354" y="3319478"/>
            <a:ext cx="374027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rgbClr val="C2185B"/>
                </a:solidFill>
                <a:latin typeface="Aptos ExtraBold" panose="020B0004020202020204" pitchFamily="34" charset="0"/>
              </a:rPr>
              <a:t>16</a:t>
            </a:r>
          </a:p>
          <a:p>
            <a:r>
              <a:rPr lang="en-US" sz="2000" dirty="0"/>
              <a:t>Education levels, no reversals</a:t>
            </a:r>
          </a:p>
          <a:p>
            <a:r>
              <a:rPr lang="en-US" sz="2000" dirty="0">
                <a:solidFill>
                  <a:srgbClr val="595959"/>
                </a:solidFill>
              </a:rPr>
              <a:t>Men lead at every one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8042DA2B-3F70-2345-BD9B-888EFFA6EFCE}"/>
              </a:ext>
            </a:extLst>
          </p:cNvPr>
          <p:cNvCxnSpPr>
            <a:cxnSpLocks/>
          </p:cNvCxnSpPr>
          <p:nvPr/>
        </p:nvCxnSpPr>
        <p:spPr>
          <a:xfrm>
            <a:off x="8624236" y="2868193"/>
            <a:ext cx="0" cy="2349120"/>
          </a:xfrm>
          <a:prstGeom prst="line">
            <a:avLst/>
          </a:prstGeom>
          <a:ln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8817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0BC5372-E487-E9B1-D98A-8B313CEBC9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332" y="240024"/>
            <a:ext cx="4057462" cy="536790"/>
          </a:xfrm>
        </p:spPr>
        <p:txBody>
          <a:bodyPr anchor="b">
            <a:noAutofit/>
          </a:bodyPr>
          <a:lstStyle/>
          <a:p>
            <a:r>
              <a:rPr lang="en-US" sz="2800" dirty="0">
                <a:solidFill>
                  <a:srgbClr val="595959"/>
                </a:solidFill>
                <a:latin typeface="+mn-lt"/>
              </a:rPr>
              <a:t>Hours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1049128-D08E-54E2-8B68-9C83E61547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19611" y="1582985"/>
            <a:ext cx="7770485" cy="4648138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B98AF8EC-0078-989D-CA0F-0FCD94DD45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6332" y="737502"/>
            <a:ext cx="9596382" cy="731101"/>
          </a:xfr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800" b="1" dirty="0">
                <a:ea typeface="+mn-lt"/>
                <a:cs typeface="+mn-lt"/>
              </a:rPr>
              <a:t>Women Working 50+ Hours Remain Below Men Working 35 - 40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F2A3C68-2F95-5F0E-3CB9-A2AEAC0E835E}"/>
              </a:ext>
            </a:extLst>
          </p:cNvPr>
          <p:cNvSpPr txBox="1"/>
          <p:nvPr/>
        </p:nvSpPr>
        <p:spPr>
          <a:xfrm>
            <a:off x="394776" y="3183779"/>
            <a:ext cx="3556391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rgbClr val="C2185B"/>
                </a:solidFill>
                <a:latin typeface="Aptos ExtraBold" panose="020B0004020202020204" pitchFamily="34" charset="0"/>
              </a:rPr>
              <a:t>18.8</a:t>
            </a:r>
          </a:p>
          <a:p>
            <a:r>
              <a:rPr lang="en-US" sz="2000" dirty="0"/>
              <a:t>Point gain for men at 50+ hours</a:t>
            </a:r>
          </a:p>
          <a:p>
            <a:r>
              <a:rPr lang="en-US" sz="2000" dirty="0">
                <a:solidFill>
                  <a:srgbClr val="595959"/>
                </a:solidFill>
              </a:rPr>
              <a:t>Women gain 10.1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F6D26C7-8188-529E-5861-A6441A548280}"/>
              </a:ext>
            </a:extLst>
          </p:cNvPr>
          <p:cNvCxnSpPr>
            <a:cxnSpLocks/>
          </p:cNvCxnSpPr>
          <p:nvPr/>
        </p:nvCxnSpPr>
        <p:spPr>
          <a:xfrm>
            <a:off x="226332" y="2732494"/>
            <a:ext cx="0" cy="2349120"/>
          </a:xfrm>
          <a:prstGeom prst="line">
            <a:avLst/>
          </a:prstGeom>
          <a:ln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73909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0608D01-113C-978D-25A6-B497D859E8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53328" y="1402462"/>
            <a:ext cx="8173699" cy="5244058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6F2AA93E-52EE-F5B5-A8CE-A893960CC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82" y="250075"/>
            <a:ext cx="5926063" cy="536790"/>
          </a:xfrm>
        </p:spPr>
        <p:txBody>
          <a:bodyPr anchor="b">
            <a:noAutofit/>
          </a:bodyPr>
          <a:lstStyle/>
          <a:p>
            <a:r>
              <a:rPr lang="en-US" sz="2800" dirty="0">
                <a:solidFill>
                  <a:srgbClr val="595959"/>
                </a:solidFill>
                <a:latin typeface="+mn-lt"/>
              </a:rPr>
              <a:t>Occupational Composition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2887646B-D19F-C633-278D-A0B8670D18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9983" y="671362"/>
            <a:ext cx="10258813" cy="731100"/>
          </a:xfr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 anchor="t">
            <a:normAutofit fontScale="92500"/>
          </a:bodyPr>
          <a:lstStyle/>
          <a:p>
            <a:pPr marL="0" indent="0">
              <a:buNone/>
            </a:pPr>
            <a:r>
              <a:rPr lang="en-US" sz="3600" b="1" dirty="0">
                <a:ea typeface="+mn-lt"/>
                <a:cs typeface="+mn-lt"/>
              </a:rPr>
              <a:t>Women Concentrate in the Lowest-Paying Occupations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D238697-3109-AB26-EDA4-8488EDB7765F}"/>
              </a:ext>
            </a:extLst>
          </p:cNvPr>
          <p:cNvSpPr txBox="1"/>
          <p:nvPr/>
        </p:nvSpPr>
        <p:spPr>
          <a:xfrm>
            <a:off x="8859667" y="3147328"/>
            <a:ext cx="333233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rgbClr val="C2185B"/>
                </a:solidFill>
                <a:latin typeface="Aptos ExtraBold" panose="020B0004020202020204" pitchFamily="34" charset="0"/>
              </a:rPr>
              <a:t>45%</a:t>
            </a:r>
          </a:p>
          <a:p>
            <a:r>
              <a:rPr lang="en-US" sz="2000" dirty="0"/>
              <a:t>Of women in the three lowest- paying occupations</a:t>
            </a:r>
          </a:p>
          <a:p>
            <a:r>
              <a:rPr lang="en-US" sz="2000" dirty="0">
                <a:solidFill>
                  <a:srgbClr val="595959"/>
                </a:solidFill>
              </a:rPr>
              <a:t>Men, 13%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C5B5F34-7603-26E6-AA37-9B026CF4791D}"/>
              </a:ext>
            </a:extLst>
          </p:cNvPr>
          <p:cNvCxnSpPr>
            <a:cxnSpLocks/>
          </p:cNvCxnSpPr>
          <p:nvPr/>
        </p:nvCxnSpPr>
        <p:spPr>
          <a:xfrm>
            <a:off x="8643347" y="2849931"/>
            <a:ext cx="0" cy="2349120"/>
          </a:xfrm>
          <a:prstGeom prst="line">
            <a:avLst/>
          </a:prstGeom>
          <a:ln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40050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7535F2A-1881-B7FF-2D49-C0138E39A0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792356" y="1527331"/>
            <a:ext cx="8162217" cy="4900124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8803992B-5AD1-6BD1-37D8-D5F701611E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339" y="250075"/>
            <a:ext cx="4057462" cy="536790"/>
          </a:xfrm>
        </p:spPr>
        <p:txBody>
          <a:bodyPr anchor="b">
            <a:noAutofit/>
          </a:bodyPr>
          <a:lstStyle/>
          <a:p>
            <a:r>
              <a:rPr lang="en-US" sz="2800" dirty="0">
                <a:solidFill>
                  <a:srgbClr val="595959"/>
                </a:solidFill>
                <a:latin typeface="+mn-lt"/>
              </a:rPr>
              <a:t>Marital Status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DE9A552A-7BDB-6E72-48E9-995C3698D8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339" y="718025"/>
            <a:ext cx="10258813" cy="731100"/>
          </a:xfr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 anchor="t">
            <a:normAutofit fontScale="92500"/>
          </a:bodyPr>
          <a:lstStyle/>
          <a:p>
            <a:pPr marL="0" indent="0">
              <a:buNone/>
            </a:pPr>
            <a:r>
              <a:rPr lang="en-US" sz="3600" dirty="0"/>
              <a:t>Where the Gap Disappears | And Why That Is Misleading</a:t>
            </a:r>
            <a:endParaRPr lang="en-US" sz="3600" b="1" dirty="0">
              <a:ea typeface="+mn-lt"/>
              <a:cs typeface="+mn-lt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A13EBD6-C105-708D-C471-8E4BEBCEFE98}"/>
              </a:ext>
            </a:extLst>
          </p:cNvPr>
          <p:cNvSpPr txBox="1"/>
          <p:nvPr/>
        </p:nvSpPr>
        <p:spPr>
          <a:xfrm>
            <a:off x="580064" y="3100230"/>
            <a:ext cx="337832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rgbClr val="C2185B"/>
                </a:solidFill>
                <a:latin typeface="Aptos ExtraBold" panose="020B0004020202020204" pitchFamily="34" charset="0"/>
              </a:rPr>
              <a:t>61%</a:t>
            </a:r>
          </a:p>
          <a:p>
            <a:r>
              <a:rPr lang="en-US" sz="2000" dirty="0"/>
              <a:t>Of men sit in the one cell with no gap</a:t>
            </a:r>
          </a:p>
          <a:p>
            <a:r>
              <a:rPr lang="en-US" sz="2000" dirty="0">
                <a:solidFill>
                  <a:srgbClr val="595959"/>
                </a:solidFill>
              </a:rPr>
              <a:t>Women, 15%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4EF1EA1-2087-4AB1-72AC-B32FD979CC5F}"/>
              </a:ext>
            </a:extLst>
          </p:cNvPr>
          <p:cNvCxnSpPr>
            <a:cxnSpLocks/>
          </p:cNvCxnSpPr>
          <p:nvPr/>
        </p:nvCxnSpPr>
        <p:spPr>
          <a:xfrm>
            <a:off x="380339" y="2822083"/>
            <a:ext cx="0" cy="2349120"/>
          </a:xfrm>
          <a:prstGeom prst="line">
            <a:avLst/>
          </a:prstGeom>
          <a:ln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9175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08B80E-1C28-791C-DED0-FFA188DAED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BA11F90-0EBE-F525-6463-454D64A880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0339" y="1380498"/>
            <a:ext cx="7774842" cy="5258131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1BB1CB16-C856-44D7-F48E-D9EC6F3A0E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339" y="250075"/>
            <a:ext cx="4057462" cy="536790"/>
          </a:xfrm>
        </p:spPr>
        <p:txBody>
          <a:bodyPr anchor="b">
            <a:noAutofit/>
          </a:bodyPr>
          <a:lstStyle/>
          <a:p>
            <a:r>
              <a:rPr lang="en-US" sz="2800" dirty="0">
                <a:solidFill>
                  <a:srgbClr val="595959"/>
                </a:solidFill>
                <a:latin typeface="+mn-lt"/>
              </a:rPr>
              <a:t>Top Two Occupations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620ADA04-998B-44AB-FDA4-0CABCC2622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339" y="680990"/>
            <a:ext cx="10258813" cy="731100"/>
          </a:xfr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 anchor="t">
            <a:normAutofit fontScale="92500"/>
          </a:bodyPr>
          <a:lstStyle/>
          <a:p>
            <a:pPr marL="0" indent="0">
              <a:buNone/>
            </a:pPr>
            <a:r>
              <a:rPr lang="en-US" sz="3600" b="1" dirty="0">
                <a:ea typeface="+mn-lt"/>
                <a:cs typeface="+mn-lt"/>
              </a:rPr>
              <a:t>The Gap Is Widest in the Highest-Paying Occupations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DF563B2-92EB-09BC-B0F7-428BD98022A1}"/>
              </a:ext>
            </a:extLst>
          </p:cNvPr>
          <p:cNvSpPr txBox="1"/>
          <p:nvPr/>
        </p:nvSpPr>
        <p:spPr>
          <a:xfrm>
            <a:off x="8448986" y="3286288"/>
            <a:ext cx="362108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rgbClr val="C2185B"/>
                </a:solidFill>
                <a:latin typeface="Aptos ExtraBold" panose="020B0004020202020204" pitchFamily="34" charset="0"/>
              </a:rPr>
              <a:t>15.3%</a:t>
            </a:r>
          </a:p>
          <a:p>
            <a:r>
              <a:rPr lang="en-US" sz="2000" dirty="0"/>
              <a:t>Of women work in Prof-specialty</a:t>
            </a:r>
          </a:p>
          <a:p>
            <a:r>
              <a:rPr lang="en-US" sz="2000" dirty="0">
                <a:solidFill>
                  <a:srgbClr val="595959"/>
                </a:solidFill>
              </a:rPr>
              <a:t>Men, 12.6%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7C4DC51-E6A3-05B7-D026-E005F3E05CF6}"/>
              </a:ext>
            </a:extLst>
          </p:cNvPr>
          <p:cNvCxnSpPr>
            <a:cxnSpLocks/>
          </p:cNvCxnSpPr>
          <p:nvPr/>
        </p:nvCxnSpPr>
        <p:spPr>
          <a:xfrm>
            <a:off x="8302083" y="2835003"/>
            <a:ext cx="0" cy="2349120"/>
          </a:xfrm>
          <a:prstGeom prst="line">
            <a:avLst/>
          </a:prstGeom>
          <a:ln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08730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C95A06-2A82-E74D-05F8-264C7A7E7E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02D03DED-DB3C-1D6E-28AC-EF39ED9E3D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339" y="250075"/>
            <a:ext cx="4057462" cy="536790"/>
          </a:xfrm>
        </p:spPr>
        <p:txBody>
          <a:bodyPr anchor="b">
            <a:noAutofit/>
          </a:bodyPr>
          <a:lstStyle/>
          <a:p>
            <a:r>
              <a:rPr lang="en-US" sz="2800" dirty="0">
                <a:solidFill>
                  <a:srgbClr val="595959"/>
                </a:solidFill>
                <a:latin typeface="+mn-lt"/>
              </a:rPr>
              <a:t>Analyze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14A3816-3E17-DBF4-63C6-95C92E1699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339" y="680990"/>
            <a:ext cx="10258813" cy="731100"/>
          </a:xfr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3600" b="1" dirty="0">
                <a:ea typeface="+mn-lt"/>
                <a:cs typeface="+mn-lt"/>
              </a:rPr>
              <a:t>Income Class Modeled Directly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48333D-6D66-9505-D99E-BBEEFEB9EDD4}"/>
              </a:ext>
            </a:extLst>
          </p:cNvPr>
          <p:cNvSpPr txBox="1"/>
          <p:nvPr/>
        </p:nvSpPr>
        <p:spPr>
          <a:xfrm>
            <a:off x="6777218" y="2027315"/>
            <a:ext cx="459984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dirty="0">
                <a:solidFill>
                  <a:srgbClr val="C2185B"/>
                </a:solidFill>
                <a:latin typeface="Aptos ExtraBold" panose="020B0004020202020204" pitchFamily="34" charset="0"/>
              </a:rPr>
              <a:t>24.9%</a:t>
            </a:r>
            <a:endParaRPr lang="en-US" sz="11500" dirty="0">
              <a:solidFill>
                <a:srgbClr val="C2185B"/>
              </a:solidFill>
              <a:latin typeface="Aptos ExtraBold" panose="020B0004020202020204" pitchFamily="34" charset="0"/>
            </a:endParaRPr>
          </a:p>
          <a:p>
            <a:pPr algn="ctr"/>
            <a:r>
              <a:rPr lang="en-US" sz="3600" dirty="0"/>
              <a:t>Of records earn above $50K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6BFBC7F-39DF-39F2-C366-32EC1B3CD1BE}"/>
              </a:ext>
            </a:extLst>
          </p:cNvPr>
          <p:cNvCxnSpPr>
            <a:cxnSpLocks/>
          </p:cNvCxnSpPr>
          <p:nvPr/>
        </p:nvCxnSpPr>
        <p:spPr>
          <a:xfrm>
            <a:off x="6632839" y="2103191"/>
            <a:ext cx="0" cy="2525904"/>
          </a:xfrm>
          <a:prstGeom prst="line">
            <a:avLst/>
          </a:prstGeom>
          <a:ln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8500C3C2-5AEA-2E7C-D4A1-F54847AC0BFE}"/>
              </a:ext>
            </a:extLst>
          </p:cNvPr>
          <p:cNvSpPr txBox="1"/>
          <p:nvPr/>
        </p:nvSpPr>
        <p:spPr>
          <a:xfrm>
            <a:off x="381769" y="2704424"/>
            <a:ext cx="610669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000" dirty="0"/>
              <a:t>Target is the census income label, above or below $50K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000" dirty="0"/>
              <a:t>30,709 records with occupation recorded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000" dirty="0"/>
              <a:t>Logistic regression, decision tree, random forest, KNN, SVC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000" dirty="0"/>
              <a:t>Occupation retained as a predictor, not excluded</a:t>
            </a:r>
          </a:p>
        </p:txBody>
      </p:sp>
    </p:spTree>
    <p:extLst>
      <p:ext uri="{BB962C8B-B14F-4D97-AF65-F5344CB8AC3E}">
        <p14:creationId xmlns:p14="http://schemas.microsoft.com/office/powerpoint/2010/main" val="27452657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5E39BA5-7119-3FC8-0359-4D7EA4844E7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841825" y="1409385"/>
            <a:ext cx="5915243" cy="5090522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F1016CE4-F66F-4840-2A70-A02F4A13C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339" y="250075"/>
            <a:ext cx="4057462" cy="536790"/>
          </a:xfrm>
        </p:spPr>
        <p:txBody>
          <a:bodyPr anchor="b">
            <a:noAutofit/>
          </a:bodyPr>
          <a:lstStyle/>
          <a:p>
            <a:r>
              <a:rPr lang="en-US" sz="2800" dirty="0">
                <a:solidFill>
                  <a:srgbClr val="595959"/>
                </a:solidFill>
                <a:latin typeface="+mn-lt"/>
              </a:rPr>
              <a:t>Ranking Quality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33F6356-8F3E-4808-88B6-2C100D5172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339" y="718025"/>
            <a:ext cx="10258813" cy="731100"/>
          </a:xfr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3600" b="1" dirty="0"/>
              <a:t>All Five Models Rank Well Above Chance</a:t>
            </a:r>
            <a:endParaRPr lang="en-US" sz="3600" b="1" dirty="0">
              <a:ea typeface="+mn-lt"/>
              <a:cs typeface="+mn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E28B5E-E239-0E62-547A-01529A090DDA}"/>
              </a:ext>
            </a:extLst>
          </p:cNvPr>
          <p:cNvSpPr txBox="1"/>
          <p:nvPr/>
        </p:nvSpPr>
        <p:spPr>
          <a:xfrm>
            <a:off x="580064" y="3100230"/>
            <a:ext cx="337832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rgbClr val="C2185B"/>
                </a:solidFill>
                <a:latin typeface="Aptos ExtraBold" panose="020B0004020202020204" pitchFamily="34" charset="0"/>
              </a:rPr>
              <a:t>0.903</a:t>
            </a:r>
          </a:p>
          <a:p>
            <a:r>
              <a:rPr lang="en-US" sz="2000" dirty="0"/>
              <a:t>ROC-AUC, random forest</a:t>
            </a:r>
          </a:p>
          <a:p>
            <a:r>
              <a:rPr lang="en-US" sz="2000" dirty="0">
                <a:solidFill>
                  <a:srgbClr val="595959"/>
                </a:solidFill>
              </a:rPr>
              <a:t>Random guessing, 0.500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87B85FE-2BC4-1CC3-2C66-938100E1EA6C}"/>
              </a:ext>
            </a:extLst>
          </p:cNvPr>
          <p:cNvCxnSpPr>
            <a:cxnSpLocks/>
          </p:cNvCxnSpPr>
          <p:nvPr/>
        </p:nvCxnSpPr>
        <p:spPr>
          <a:xfrm>
            <a:off x="380339" y="2822083"/>
            <a:ext cx="0" cy="2349120"/>
          </a:xfrm>
          <a:prstGeom prst="line">
            <a:avLst/>
          </a:prstGeom>
          <a:ln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41171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5EE7F9-2DB9-16DD-1F5A-189127663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7ED9451-546E-AF7A-A55F-2FEF9B27A02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90070" y="1646305"/>
            <a:ext cx="11411860" cy="2071736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6A8CE3F8-AB22-90FE-D186-E7740C5033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339" y="250075"/>
            <a:ext cx="4057462" cy="536790"/>
          </a:xfrm>
        </p:spPr>
        <p:txBody>
          <a:bodyPr anchor="b">
            <a:noAutofit/>
          </a:bodyPr>
          <a:lstStyle/>
          <a:p>
            <a:r>
              <a:rPr lang="en-US" sz="2800" dirty="0">
                <a:solidFill>
                  <a:srgbClr val="595959"/>
                </a:solidFill>
                <a:latin typeface="+mn-lt"/>
              </a:rPr>
              <a:t>Errors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3D3C491-E9B0-3651-D88D-50FA36262A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339" y="718025"/>
            <a:ext cx="10258813" cy="731100"/>
          </a:xfr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3600" b="1" dirty="0"/>
              <a:t>High Recall Bought With Low Precision</a:t>
            </a:r>
            <a:endParaRPr lang="en-US" sz="3600" b="1" dirty="0">
              <a:ea typeface="+mn-lt"/>
              <a:cs typeface="+mn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B0DC018-84FC-1DEA-0092-CF722D57A744}"/>
              </a:ext>
            </a:extLst>
          </p:cNvPr>
          <p:cNvSpPr txBox="1"/>
          <p:nvPr/>
        </p:nvSpPr>
        <p:spPr>
          <a:xfrm>
            <a:off x="538778" y="4693425"/>
            <a:ext cx="337832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rgbClr val="C2185B"/>
                </a:solidFill>
                <a:latin typeface="Aptos ExtraBold" panose="020B0004020202020204" pitchFamily="34" charset="0"/>
              </a:rPr>
              <a:t>83.1%</a:t>
            </a:r>
          </a:p>
          <a:p>
            <a:r>
              <a:rPr lang="en-US" sz="2000" dirty="0"/>
              <a:t>Of high earners identified</a:t>
            </a:r>
          </a:p>
          <a:p>
            <a:r>
              <a:rPr lang="en-US" sz="2000" dirty="0">
                <a:solidFill>
                  <a:srgbClr val="595959"/>
                </a:solidFill>
              </a:rPr>
              <a:t>Precision, 56.4%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5A1A65B-27DC-F850-B817-1D0E33F89FB3}"/>
              </a:ext>
            </a:extLst>
          </p:cNvPr>
          <p:cNvCxnSpPr>
            <a:cxnSpLocks/>
          </p:cNvCxnSpPr>
          <p:nvPr/>
        </p:nvCxnSpPr>
        <p:spPr>
          <a:xfrm>
            <a:off x="471753" y="4693425"/>
            <a:ext cx="0" cy="1446550"/>
          </a:xfrm>
          <a:prstGeom prst="line">
            <a:avLst/>
          </a:prstGeom>
          <a:ln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63042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B72258F-2A63-3607-1F2D-70F272D4943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92690428"/>
              </p:ext>
            </p:extLst>
          </p:nvPr>
        </p:nvGraphicFramePr>
        <p:xfrm>
          <a:off x="380339" y="1669508"/>
          <a:ext cx="10515598" cy="259588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2944368">
                  <a:extLst>
                    <a:ext uri="{9D8B030D-6E8A-4147-A177-3AD203B41FA5}">
                      <a16:colId xmlns:a16="http://schemas.microsoft.com/office/drawing/2014/main" val="917325447"/>
                    </a:ext>
                  </a:extLst>
                </a:gridCol>
                <a:gridCol w="1514246">
                  <a:extLst>
                    <a:ext uri="{9D8B030D-6E8A-4147-A177-3AD203B41FA5}">
                      <a16:colId xmlns:a16="http://schemas.microsoft.com/office/drawing/2014/main" val="1996413078"/>
                    </a:ext>
                  </a:extLst>
                </a:gridCol>
                <a:gridCol w="1514246">
                  <a:extLst>
                    <a:ext uri="{9D8B030D-6E8A-4147-A177-3AD203B41FA5}">
                      <a16:colId xmlns:a16="http://schemas.microsoft.com/office/drawing/2014/main" val="1009188924"/>
                    </a:ext>
                  </a:extLst>
                </a:gridCol>
                <a:gridCol w="1514246">
                  <a:extLst>
                    <a:ext uri="{9D8B030D-6E8A-4147-A177-3AD203B41FA5}">
                      <a16:colId xmlns:a16="http://schemas.microsoft.com/office/drawing/2014/main" val="3680755575"/>
                    </a:ext>
                  </a:extLst>
                </a:gridCol>
                <a:gridCol w="1514246">
                  <a:extLst>
                    <a:ext uri="{9D8B030D-6E8A-4147-A177-3AD203B41FA5}">
                      <a16:colId xmlns:a16="http://schemas.microsoft.com/office/drawing/2014/main" val="3578465223"/>
                    </a:ext>
                  </a:extLst>
                </a:gridCol>
                <a:gridCol w="1514246">
                  <a:extLst>
                    <a:ext uri="{9D8B030D-6E8A-4147-A177-3AD203B41FA5}">
                      <a16:colId xmlns:a16="http://schemas.microsoft.com/office/drawing/2014/main" val="359822286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Accuracy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Precision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96564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C2185B"/>
                          </a:solidFill>
                        </a:rPr>
                        <a:t>Baseline (majority class)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C2185B"/>
                          </a:solidFill>
                        </a:rPr>
                        <a:t>0.751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C2185B"/>
                          </a:solidFill>
                        </a:rPr>
                        <a:t>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C2185B"/>
                          </a:solidFill>
                        </a:rPr>
                        <a:t>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05260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Logistic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31338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Decision tree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83341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65970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KNN (k=25)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0.692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0.640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87748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SVC (RBF)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0.864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5295774"/>
                  </a:ext>
                </a:extLst>
              </a:tr>
            </a:tbl>
          </a:graphicData>
        </a:graphic>
      </p:graphicFrame>
      <p:sp>
        <p:nvSpPr>
          <p:cNvPr id="5" name="Title 1">
            <a:extLst>
              <a:ext uri="{FF2B5EF4-FFF2-40B4-BE49-F238E27FC236}">
                <a16:creationId xmlns:a16="http://schemas.microsoft.com/office/drawing/2014/main" id="{6AB66D45-FD15-6461-D5B0-C653FB1457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339" y="250075"/>
            <a:ext cx="4057462" cy="536790"/>
          </a:xfrm>
        </p:spPr>
        <p:txBody>
          <a:bodyPr anchor="b">
            <a:noAutofit/>
          </a:bodyPr>
          <a:lstStyle/>
          <a:p>
            <a:r>
              <a:rPr lang="en-US" sz="2800" dirty="0">
                <a:solidFill>
                  <a:srgbClr val="595959"/>
                </a:solidFill>
                <a:latin typeface="+mn-lt"/>
              </a:rPr>
              <a:t>Model Comparison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DCB2D44-3B5F-0DFC-9ED4-32941DE0A6BE}"/>
              </a:ext>
            </a:extLst>
          </p:cNvPr>
          <p:cNvSpPr txBox="1">
            <a:spLocks/>
          </p:cNvSpPr>
          <p:nvPr/>
        </p:nvSpPr>
        <p:spPr>
          <a:xfrm>
            <a:off x="380339" y="718025"/>
            <a:ext cx="10258813" cy="7311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600" b="1" dirty="0"/>
              <a:t>Highest Accuracy Finds the Fewest High Earners</a:t>
            </a:r>
            <a:endParaRPr lang="en-US" sz="3600" b="1" dirty="0">
              <a:ea typeface="+mn-lt"/>
              <a:cs typeface="+mn-l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95F7416-A104-0129-C417-1619B72D8A30}"/>
              </a:ext>
            </a:extLst>
          </p:cNvPr>
          <p:cNvSpPr txBox="1"/>
          <p:nvPr/>
        </p:nvSpPr>
        <p:spPr>
          <a:xfrm>
            <a:off x="8372706" y="5271816"/>
            <a:ext cx="35444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Baseline F1 at 75.1% accuracy</a:t>
            </a:r>
          </a:p>
          <a:p>
            <a:r>
              <a:rPr lang="en-US" dirty="0"/>
              <a:t>Best model, 0.688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778ECBF-0689-C305-B1BF-B750059A4E49}"/>
              </a:ext>
            </a:extLst>
          </p:cNvPr>
          <p:cNvSpPr txBox="1"/>
          <p:nvPr/>
        </p:nvSpPr>
        <p:spPr>
          <a:xfrm>
            <a:off x="6665667" y="5210261"/>
            <a:ext cx="172132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dirty="0">
                <a:solidFill>
                  <a:srgbClr val="C2185B"/>
                </a:solidFill>
                <a:latin typeface="Aptos ExtraBold" panose="020B0004020202020204" pitchFamily="34" charset="0"/>
              </a:rPr>
              <a:t>0.000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B48DE22-BD9E-7FB1-5F0A-BCB2E8DEE40B}"/>
              </a:ext>
            </a:extLst>
          </p:cNvPr>
          <p:cNvCxnSpPr>
            <a:cxnSpLocks/>
          </p:cNvCxnSpPr>
          <p:nvPr/>
        </p:nvCxnSpPr>
        <p:spPr>
          <a:xfrm>
            <a:off x="6619180" y="5281423"/>
            <a:ext cx="0" cy="688673"/>
          </a:xfrm>
          <a:prstGeom prst="line">
            <a:avLst/>
          </a:prstGeom>
          <a:ln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0068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A653E54-CC82-055D-C1D8-B8021320AE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272202" y="1568344"/>
            <a:ext cx="7603036" cy="4999256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B687A1B1-79FF-B682-2D0B-76CCC7130C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339" y="250075"/>
            <a:ext cx="4057462" cy="536790"/>
          </a:xfrm>
        </p:spPr>
        <p:txBody>
          <a:bodyPr anchor="b">
            <a:noAutofit/>
          </a:bodyPr>
          <a:lstStyle/>
          <a:p>
            <a:r>
              <a:rPr lang="en-US" sz="2800" b="1" dirty="0">
                <a:solidFill>
                  <a:srgbClr val="595959"/>
                </a:solidFill>
                <a:latin typeface="+mn-lt"/>
              </a:rPr>
              <a:t>Conditioning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29462A2-2591-22E0-3A73-3423645A8E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339" y="718025"/>
            <a:ext cx="10258813" cy="731100"/>
          </a:xfr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3600" dirty="0"/>
              <a:t>Sex Still Predicts With Occupation Held Constant</a:t>
            </a:r>
            <a:endParaRPr lang="en-US" sz="3600" b="1" dirty="0">
              <a:ea typeface="+mn-lt"/>
              <a:cs typeface="+mn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E5AD05-863B-BD02-A9BC-A4A4022419DD}"/>
              </a:ext>
            </a:extLst>
          </p:cNvPr>
          <p:cNvSpPr txBox="1"/>
          <p:nvPr/>
        </p:nvSpPr>
        <p:spPr>
          <a:xfrm>
            <a:off x="580064" y="3100230"/>
            <a:ext cx="337832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rgbClr val="C2185B"/>
                </a:solidFill>
                <a:latin typeface="Aptos ExtraBold" panose="020B0004020202020204" pitchFamily="34" charset="0"/>
              </a:rPr>
              <a:t>1.25×</a:t>
            </a:r>
          </a:p>
          <a:p>
            <a:r>
              <a:rPr lang="en-US" sz="2000" dirty="0"/>
              <a:t>Conditional odds ratio for men</a:t>
            </a:r>
          </a:p>
          <a:p>
            <a:r>
              <a:rPr lang="en-US" sz="2000" dirty="0">
                <a:solidFill>
                  <a:srgbClr val="595959"/>
                </a:solidFill>
              </a:rPr>
              <a:t>Unconditional ratio, 2.79×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92D83D9-C166-9C01-157A-D4FB320BC824}"/>
              </a:ext>
            </a:extLst>
          </p:cNvPr>
          <p:cNvCxnSpPr>
            <a:cxnSpLocks/>
          </p:cNvCxnSpPr>
          <p:nvPr/>
        </p:nvCxnSpPr>
        <p:spPr>
          <a:xfrm>
            <a:off x="380339" y="2822083"/>
            <a:ext cx="0" cy="2349120"/>
          </a:xfrm>
          <a:prstGeom prst="line">
            <a:avLst/>
          </a:prstGeom>
          <a:ln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81153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F1F2E3-2F1C-C403-E038-E0576F6BF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7F39C2F-5A64-AD0A-49CA-5B0AA4C50D4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33176" y="1664088"/>
            <a:ext cx="7593812" cy="4489373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87A83513-3B9F-FAB3-B0BC-FB3C64537D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339" y="250075"/>
            <a:ext cx="4057462" cy="536790"/>
          </a:xfrm>
        </p:spPr>
        <p:txBody>
          <a:bodyPr anchor="b">
            <a:noAutofit/>
          </a:bodyPr>
          <a:lstStyle/>
          <a:p>
            <a:r>
              <a:rPr lang="en-US" sz="2800" b="1" dirty="0">
                <a:solidFill>
                  <a:srgbClr val="595959"/>
                </a:solidFill>
                <a:latin typeface="+mn-lt"/>
              </a:rPr>
              <a:t>Stratified Models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3A2DC56-B473-7375-F722-A92C98B3F9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339" y="718025"/>
            <a:ext cx="10258813" cy="731100"/>
          </a:xfr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3600" dirty="0"/>
              <a:t>Marriage Carries Twice the Weight for Women</a:t>
            </a:r>
            <a:endParaRPr lang="en-US" sz="3600" b="1" dirty="0">
              <a:ea typeface="+mn-lt"/>
              <a:cs typeface="+mn-l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0714C1C-D496-D3D5-5988-30E31FA81639}"/>
              </a:ext>
            </a:extLst>
          </p:cNvPr>
          <p:cNvSpPr txBox="1"/>
          <p:nvPr/>
        </p:nvSpPr>
        <p:spPr>
          <a:xfrm>
            <a:off x="8427096" y="3208727"/>
            <a:ext cx="337832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rgbClr val="C2185B"/>
                </a:solidFill>
                <a:latin typeface="Aptos ExtraBold" panose="020B0004020202020204" pitchFamily="34" charset="0"/>
              </a:rPr>
              <a:t>0.926</a:t>
            </a:r>
          </a:p>
          <a:p>
            <a:r>
              <a:rPr lang="en-US" sz="2000" dirty="0"/>
              <a:t>ROC-AUC, women’s model</a:t>
            </a:r>
          </a:p>
          <a:p>
            <a:r>
              <a:rPr lang="en-US" sz="2000" dirty="0">
                <a:solidFill>
                  <a:srgbClr val="595959"/>
                </a:solidFill>
              </a:rPr>
              <a:t>Men, 0.870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CF28A45-5603-A161-D722-183A31C616F9}"/>
              </a:ext>
            </a:extLst>
          </p:cNvPr>
          <p:cNvCxnSpPr>
            <a:cxnSpLocks/>
          </p:cNvCxnSpPr>
          <p:nvPr/>
        </p:nvCxnSpPr>
        <p:spPr>
          <a:xfrm>
            <a:off x="8003225" y="2911330"/>
            <a:ext cx="0" cy="2349120"/>
          </a:xfrm>
          <a:prstGeom prst="line">
            <a:avLst/>
          </a:prstGeom>
          <a:ln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28749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FB4882-DEF4-E196-83D3-9A98012F48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A0215CB-115F-507D-2F1D-CA4A72D4D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339" y="250075"/>
            <a:ext cx="4057462" cy="536790"/>
          </a:xfrm>
        </p:spPr>
        <p:txBody>
          <a:bodyPr anchor="b">
            <a:noAutofit/>
          </a:bodyPr>
          <a:lstStyle/>
          <a:p>
            <a:r>
              <a:rPr lang="en-US" sz="2800" dirty="0">
                <a:solidFill>
                  <a:srgbClr val="595959"/>
                </a:solidFill>
                <a:latin typeface="+mn-lt"/>
              </a:rPr>
              <a:t>Feature Importance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DF025AD-5F38-7D54-90B5-33EA608108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339" y="718025"/>
            <a:ext cx="10258813" cy="731100"/>
          </a:xfr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3600" b="1" dirty="0"/>
              <a:t>Marital Status Dominates | Sex Ranks Seventh of 35</a:t>
            </a:r>
            <a:endParaRPr lang="en-US" sz="3600" b="1" dirty="0">
              <a:ea typeface="+mn-lt"/>
              <a:cs typeface="+mn-l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2C13671-331A-0006-987B-22C1353CC8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83644" y="1648920"/>
            <a:ext cx="7550831" cy="4969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3482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C95A06-2A82-E74D-05F8-264C7A7E7E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02D03DED-DB3C-1D6E-28AC-EF39ED9E3D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339" y="250075"/>
            <a:ext cx="4057462" cy="536790"/>
          </a:xfrm>
        </p:spPr>
        <p:txBody>
          <a:bodyPr anchor="b">
            <a:noAutofit/>
          </a:bodyPr>
          <a:lstStyle/>
          <a:p>
            <a:r>
              <a:rPr lang="en-US" sz="2800" dirty="0">
                <a:solidFill>
                  <a:srgbClr val="595959"/>
                </a:solidFill>
                <a:latin typeface="+mn-lt"/>
              </a:rPr>
              <a:t>Analyze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14A3816-3E17-DBF4-63C6-95C92E1699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339" y="680990"/>
            <a:ext cx="10258813" cy="731100"/>
          </a:xfr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3600" b="1" dirty="0">
                <a:ea typeface="+mn-lt"/>
                <a:cs typeface="+mn-lt"/>
              </a:rPr>
              <a:t>A Sequence Built From Age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48333D-6D66-9505-D99E-BBEEFEB9EDD4}"/>
              </a:ext>
            </a:extLst>
          </p:cNvPr>
          <p:cNvSpPr txBox="1"/>
          <p:nvPr/>
        </p:nvSpPr>
        <p:spPr>
          <a:xfrm>
            <a:off x="6777218" y="2027315"/>
            <a:ext cx="459984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dirty="0">
                <a:solidFill>
                  <a:srgbClr val="C2185B"/>
                </a:solidFill>
                <a:latin typeface="Aptos ExtraBold" panose="020B0004020202020204" pitchFamily="34" charset="0"/>
              </a:rPr>
              <a:t>20</a:t>
            </a:r>
            <a:endParaRPr lang="en-US" sz="11500" dirty="0">
              <a:solidFill>
                <a:srgbClr val="C2185B"/>
              </a:solidFill>
              <a:latin typeface="Aptos ExtraBold" panose="020B0004020202020204" pitchFamily="34" charset="0"/>
            </a:endParaRPr>
          </a:p>
          <a:p>
            <a:pPr algn="ctr"/>
            <a:r>
              <a:rPr lang="en-US" sz="3600" dirty="0"/>
              <a:t>Parallel age series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6BFBC7F-39DF-39F2-C366-32EC1B3CD1BE}"/>
              </a:ext>
            </a:extLst>
          </p:cNvPr>
          <p:cNvCxnSpPr>
            <a:cxnSpLocks/>
          </p:cNvCxnSpPr>
          <p:nvPr/>
        </p:nvCxnSpPr>
        <p:spPr>
          <a:xfrm>
            <a:off x="6632839" y="2103191"/>
            <a:ext cx="0" cy="2525904"/>
          </a:xfrm>
          <a:prstGeom prst="line">
            <a:avLst/>
          </a:prstGeom>
          <a:ln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8500C3C2-5AEA-2E7C-D4A1-F54847AC0BFE}"/>
              </a:ext>
            </a:extLst>
          </p:cNvPr>
          <p:cNvSpPr txBox="1"/>
          <p:nvPr/>
        </p:nvSpPr>
        <p:spPr>
          <a:xfrm>
            <a:off x="381769" y="2704424"/>
            <a:ext cx="610669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000" dirty="0"/>
              <a:t>Adult has no time index Age gives an ordering at regular one-year intervals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000" dirty="0"/>
              <a:t>Target: share above $50K at each age, within group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000" dirty="0"/>
              <a:t>Groups: sex × education band × marital status, ages 20–70</a:t>
            </a:r>
          </a:p>
        </p:txBody>
      </p:sp>
    </p:spTree>
    <p:extLst>
      <p:ext uri="{BB962C8B-B14F-4D97-AF65-F5344CB8AC3E}">
        <p14:creationId xmlns:p14="http://schemas.microsoft.com/office/powerpoint/2010/main" val="15103292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5E39BA5-7119-3FC8-0359-4D7EA4844E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792356" y="1694195"/>
            <a:ext cx="8162217" cy="4821226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F1016CE4-F66F-4840-2A70-A02F4A13C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339" y="250075"/>
            <a:ext cx="4057462" cy="536790"/>
          </a:xfrm>
        </p:spPr>
        <p:txBody>
          <a:bodyPr anchor="b">
            <a:noAutofit/>
          </a:bodyPr>
          <a:lstStyle/>
          <a:p>
            <a:r>
              <a:rPr lang="en-US" sz="2800" dirty="0">
                <a:solidFill>
                  <a:srgbClr val="595959"/>
                </a:solidFill>
                <a:latin typeface="+mn-lt"/>
              </a:rPr>
              <a:t>Age Profiles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33F6356-8F3E-4808-88B6-2C100D5172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339" y="718025"/>
            <a:ext cx="10258813" cy="731100"/>
          </a:xfr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3600" b="1" dirty="0"/>
              <a:t>Marriage Separates Women’s Outcomes Most</a:t>
            </a:r>
            <a:endParaRPr lang="en-US" sz="3600" b="1" dirty="0">
              <a:ea typeface="+mn-lt"/>
              <a:cs typeface="+mn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E28B5E-E239-0E62-547A-01529A090DDA}"/>
              </a:ext>
            </a:extLst>
          </p:cNvPr>
          <p:cNvSpPr txBox="1"/>
          <p:nvPr/>
        </p:nvSpPr>
        <p:spPr>
          <a:xfrm>
            <a:off x="580064" y="3100230"/>
            <a:ext cx="337832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rgbClr val="C2185B"/>
                </a:solidFill>
                <a:latin typeface="Aptos ExtraBold" panose="020B0004020202020204" pitchFamily="34" charset="0"/>
              </a:rPr>
              <a:t>51</a:t>
            </a:r>
          </a:p>
          <a:p>
            <a:r>
              <a:rPr lang="en-US" sz="2000" dirty="0"/>
              <a:t>Ages per series</a:t>
            </a:r>
          </a:p>
          <a:p>
            <a:r>
              <a:rPr lang="en-US" sz="2000" dirty="0">
                <a:solidFill>
                  <a:srgbClr val="595959"/>
                </a:solidFill>
              </a:rPr>
              <a:t>Median cell, 17 people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87B85FE-2BC4-1CC3-2C66-938100E1EA6C}"/>
              </a:ext>
            </a:extLst>
          </p:cNvPr>
          <p:cNvCxnSpPr>
            <a:cxnSpLocks/>
          </p:cNvCxnSpPr>
          <p:nvPr/>
        </p:nvCxnSpPr>
        <p:spPr>
          <a:xfrm>
            <a:off x="380339" y="3020518"/>
            <a:ext cx="0" cy="1526262"/>
          </a:xfrm>
          <a:prstGeom prst="line">
            <a:avLst/>
          </a:prstGeom>
          <a:ln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84171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C95A06-2A82-E74D-05F8-264C7A7E7E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02D03DED-DB3C-1D6E-28AC-EF39ED9E3D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339" y="250075"/>
            <a:ext cx="4057462" cy="536790"/>
          </a:xfrm>
        </p:spPr>
        <p:txBody>
          <a:bodyPr anchor="b">
            <a:noAutofit/>
          </a:bodyPr>
          <a:lstStyle/>
          <a:p>
            <a:r>
              <a:rPr lang="en-US" sz="2800" dirty="0">
                <a:solidFill>
                  <a:srgbClr val="595959"/>
                </a:solidFill>
                <a:latin typeface="+mn-lt"/>
              </a:rPr>
              <a:t>Windowing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14A3816-3E17-DBF4-63C6-95C92E1699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339" y="680990"/>
            <a:ext cx="10258813" cy="731100"/>
          </a:xfr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3600" b="1" dirty="0">
                <a:ea typeface="+mn-lt"/>
                <a:cs typeface="+mn-lt"/>
              </a:rPr>
              <a:t>Eight Ages In, the Ninth Out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48333D-6D66-9505-D99E-BBEEFEB9EDD4}"/>
              </a:ext>
            </a:extLst>
          </p:cNvPr>
          <p:cNvSpPr txBox="1"/>
          <p:nvPr/>
        </p:nvSpPr>
        <p:spPr>
          <a:xfrm>
            <a:off x="6777218" y="2027315"/>
            <a:ext cx="4599840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800" dirty="0">
                <a:solidFill>
                  <a:srgbClr val="C2185B"/>
                </a:solidFill>
                <a:latin typeface="Aptos ExtraBold" panose="020B0004020202020204" pitchFamily="34" charset="0"/>
              </a:rPr>
              <a:t>811</a:t>
            </a:r>
            <a:endParaRPr lang="en-US" sz="11500" dirty="0">
              <a:solidFill>
                <a:srgbClr val="C2185B"/>
              </a:solidFill>
              <a:latin typeface="Aptos ExtraBold" panose="020B0004020202020204" pitchFamily="34" charset="0"/>
            </a:endParaRPr>
          </a:p>
          <a:p>
            <a:pPr algn="ctr"/>
            <a:r>
              <a:rPr lang="en-US" sz="3600" dirty="0"/>
              <a:t>Sliding windows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6BFBC7F-39DF-39F2-C366-32EC1B3CD1BE}"/>
              </a:ext>
            </a:extLst>
          </p:cNvPr>
          <p:cNvCxnSpPr>
            <a:cxnSpLocks/>
          </p:cNvCxnSpPr>
          <p:nvPr/>
        </p:nvCxnSpPr>
        <p:spPr>
          <a:xfrm>
            <a:off x="6632839" y="2103191"/>
            <a:ext cx="0" cy="1846717"/>
          </a:xfrm>
          <a:prstGeom prst="line">
            <a:avLst/>
          </a:prstGeom>
          <a:ln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8500C3C2-5AEA-2E7C-D4A1-F54847AC0BFE}"/>
              </a:ext>
            </a:extLst>
          </p:cNvPr>
          <p:cNvSpPr txBox="1"/>
          <p:nvPr/>
        </p:nvSpPr>
        <p:spPr>
          <a:xfrm>
            <a:off x="381771" y="2027315"/>
            <a:ext cx="610669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000" dirty="0"/>
              <a:t>Each example: 8 consecutive ages predicting the 9th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000" dirty="0"/>
              <a:t>Five features per step: rate, age, sex, marriage, education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000" dirty="0"/>
              <a:t>Split by target age, not at random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000" dirty="0"/>
              <a:t>Train on ages to 59, hold out 60–70 (620 train, 191 test)</a:t>
            </a:r>
          </a:p>
        </p:txBody>
      </p:sp>
    </p:spTree>
    <p:extLst>
      <p:ext uri="{BB962C8B-B14F-4D97-AF65-F5344CB8AC3E}">
        <p14:creationId xmlns:p14="http://schemas.microsoft.com/office/powerpoint/2010/main" val="36315443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C95A06-2A82-E74D-05F8-264C7A7E7E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02D03DED-DB3C-1D6E-28AC-EF39ED9E3D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339" y="250075"/>
            <a:ext cx="4057462" cy="536790"/>
          </a:xfrm>
        </p:spPr>
        <p:txBody>
          <a:bodyPr anchor="b">
            <a:noAutofit/>
          </a:bodyPr>
          <a:lstStyle/>
          <a:p>
            <a:r>
              <a:rPr lang="en-US" sz="2800" dirty="0">
                <a:solidFill>
                  <a:srgbClr val="595959"/>
                </a:solidFill>
                <a:latin typeface="+mn-lt"/>
              </a:rPr>
              <a:t>Architectures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14A3816-3E17-DBF4-63C6-95C92E1699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339" y="680990"/>
            <a:ext cx="10258813" cy="731100"/>
          </a:xfr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3600" b="1" dirty="0">
                <a:ea typeface="+mn-lt"/>
                <a:cs typeface="+mn-lt"/>
              </a:rPr>
              <a:t>Three Recurrent, One Flattened Control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48333D-6D66-9505-D99E-BBEEFEB9EDD4}"/>
              </a:ext>
            </a:extLst>
          </p:cNvPr>
          <p:cNvSpPr txBox="1"/>
          <p:nvPr/>
        </p:nvSpPr>
        <p:spPr>
          <a:xfrm>
            <a:off x="6777218" y="2027315"/>
            <a:ext cx="459984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dirty="0">
                <a:solidFill>
                  <a:srgbClr val="C2185B"/>
                </a:solidFill>
                <a:latin typeface="Aptos ExtraBold" panose="020B0004020202020204" pitchFamily="34" charset="0"/>
              </a:rPr>
              <a:t>4</a:t>
            </a:r>
            <a:endParaRPr lang="en-US" sz="11500" dirty="0">
              <a:solidFill>
                <a:srgbClr val="C2185B"/>
              </a:solidFill>
              <a:latin typeface="Aptos ExtraBold" panose="020B0004020202020204" pitchFamily="34" charset="0"/>
            </a:endParaRPr>
          </a:p>
          <a:p>
            <a:pPr algn="ctr"/>
            <a:r>
              <a:rPr lang="en-US" sz="3200" dirty="0"/>
              <a:t>Architectures compared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6BFBC7F-39DF-39F2-C366-32EC1B3CD1BE}"/>
              </a:ext>
            </a:extLst>
          </p:cNvPr>
          <p:cNvCxnSpPr>
            <a:cxnSpLocks/>
          </p:cNvCxnSpPr>
          <p:nvPr/>
        </p:nvCxnSpPr>
        <p:spPr>
          <a:xfrm>
            <a:off x="6632839" y="2094344"/>
            <a:ext cx="0" cy="1681825"/>
          </a:xfrm>
          <a:prstGeom prst="line">
            <a:avLst/>
          </a:prstGeom>
          <a:ln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8500C3C2-5AEA-2E7C-D4A1-F54847AC0BFE}"/>
              </a:ext>
            </a:extLst>
          </p:cNvPr>
          <p:cNvSpPr txBox="1"/>
          <p:nvPr/>
        </p:nvSpPr>
        <p:spPr>
          <a:xfrm>
            <a:off x="381771" y="2273537"/>
            <a:ext cx="610669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000" dirty="0"/>
              <a:t>SimpleRNN, LSTM and GRU are all recurrent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000" dirty="0"/>
              <a:t>Dense on the flattened window &amp; order discarded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000" dirty="0"/>
              <a:t>MSE loss, Adam, early stopping on validation loss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000" dirty="0"/>
              <a:t>Seed fixed per model so the comparison is fair</a:t>
            </a:r>
          </a:p>
        </p:txBody>
      </p:sp>
    </p:spTree>
    <p:extLst>
      <p:ext uri="{BB962C8B-B14F-4D97-AF65-F5344CB8AC3E}">
        <p14:creationId xmlns:p14="http://schemas.microsoft.com/office/powerpoint/2010/main" val="1593724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B72258F-2A63-3607-1F2D-70F272D4943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380339" y="1669508"/>
          <a:ext cx="10515595" cy="259588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3364991">
                  <a:extLst>
                    <a:ext uri="{9D8B030D-6E8A-4147-A177-3AD203B41FA5}">
                      <a16:colId xmlns:a16="http://schemas.microsoft.com/office/drawing/2014/main" val="917325447"/>
                    </a:ext>
                  </a:extLst>
                </a:gridCol>
                <a:gridCol w="1787651">
                  <a:extLst>
                    <a:ext uri="{9D8B030D-6E8A-4147-A177-3AD203B41FA5}">
                      <a16:colId xmlns:a16="http://schemas.microsoft.com/office/drawing/2014/main" val="1996413078"/>
                    </a:ext>
                  </a:extLst>
                </a:gridCol>
                <a:gridCol w="1787651">
                  <a:extLst>
                    <a:ext uri="{9D8B030D-6E8A-4147-A177-3AD203B41FA5}">
                      <a16:colId xmlns:a16="http://schemas.microsoft.com/office/drawing/2014/main" val="1009188924"/>
                    </a:ext>
                  </a:extLst>
                </a:gridCol>
                <a:gridCol w="1787651">
                  <a:extLst>
                    <a:ext uri="{9D8B030D-6E8A-4147-A177-3AD203B41FA5}">
                      <a16:colId xmlns:a16="http://schemas.microsoft.com/office/drawing/2014/main" val="3680755575"/>
                    </a:ext>
                  </a:extLst>
                </a:gridCol>
                <a:gridCol w="1787651">
                  <a:extLst>
                    <a:ext uri="{9D8B030D-6E8A-4147-A177-3AD203B41FA5}">
                      <a16:colId xmlns:a16="http://schemas.microsoft.com/office/drawing/2014/main" val="42817327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Recurrent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MAE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96564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Train mean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0.2096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0.2385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05260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Persistence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0.0595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0.1007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31338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SimpleRNN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0.1229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0.1489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83341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LSTM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0.0960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0.1218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65970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C2185B"/>
                          </a:solidFill>
                        </a:rPr>
                        <a:t>GRU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C2185B"/>
                          </a:solidFill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C2185B"/>
                          </a:solidFill>
                        </a:rPr>
                        <a:t>0.0686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C2185B"/>
                          </a:solidFill>
                        </a:rPr>
                        <a:t>0.0969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87748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Dense (flattened)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0.0810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0.1033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3466689"/>
                  </a:ext>
                </a:extLst>
              </a:tr>
            </a:tbl>
          </a:graphicData>
        </a:graphic>
      </p:graphicFrame>
      <p:sp>
        <p:nvSpPr>
          <p:cNvPr id="5" name="Title 1">
            <a:extLst>
              <a:ext uri="{FF2B5EF4-FFF2-40B4-BE49-F238E27FC236}">
                <a16:creationId xmlns:a16="http://schemas.microsoft.com/office/drawing/2014/main" id="{6AB66D45-FD15-6461-D5B0-C653FB1457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339" y="250075"/>
            <a:ext cx="4057462" cy="536790"/>
          </a:xfrm>
        </p:spPr>
        <p:txBody>
          <a:bodyPr anchor="b">
            <a:noAutofit/>
          </a:bodyPr>
          <a:lstStyle/>
          <a:p>
            <a:r>
              <a:rPr lang="en-US" sz="2800" dirty="0">
                <a:solidFill>
                  <a:srgbClr val="595959"/>
                </a:solidFill>
                <a:latin typeface="+mn-lt"/>
              </a:rPr>
              <a:t>Model Comparison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DCB2D44-3B5F-0DFC-9ED4-32941DE0A6BE}"/>
              </a:ext>
            </a:extLst>
          </p:cNvPr>
          <p:cNvSpPr txBox="1">
            <a:spLocks/>
          </p:cNvSpPr>
          <p:nvPr/>
        </p:nvSpPr>
        <p:spPr>
          <a:xfrm>
            <a:off x="380339" y="718025"/>
            <a:ext cx="10258813" cy="7311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600" b="1" dirty="0"/>
              <a:t>A Parameter-Free Rule Beats Three of Four Networks</a:t>
            </a:r>
            <a:endParaRPr lang="en-US" sz="3600" b="1" dirty="0">
              <a:ea typeface="+mn-lt"/>
              <a:cs typeface="+mn-l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95F7416-A104-0129-C417-1619B72D8A30}"/>
              </a:ext>
            </a:extLst>
          </p:cNvPr>
          <p:cNvSpPr txBox="1"/>
          <p:nvPr/>
        </p:nvSpPr>
        <p:spPr>
          <a:xfrm>
            <a:off x="7465808" y="5333371"/>
            <a:ext cx="24127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GRU, best model</a:t>
            </a:r>
          </a:p>
          <a:p>
            <a:r>
              <a:rPr lang="en-US" sz="2000" dirty="0">
                <a:solidFill>
                  <a:srgbClr val="595959"/>
                </a:solidFill>
              </a:rPr>
              <a:t>Persistence, 0.809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778ECBF-0689-C305-B1BF-B750059A4E49}"/>
              </a:ext>
            </a:extLst>
          </p:cNvPr>
          <p:cNvSpPr txBox="1"/>
          <p:nvPr/>
        </p:nvSpPr>
        <p:spPr>
          <a:xfrm>
            <a:off x="5634385" y="5271816"/>
            <a:ext cx="176621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dirty="0">
                <a:solidFill>
                  <a:srgbClr val="C2185B"/>
                </a:solidFill>
                <a:latin typeface="Aptos ExtraBold" panose="020B0004020202020204" pitchFamily="34" charset="0"/>
              </a:rPr>
              <a:t>0.824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B48DE22-BD9E-7FB1-5F0A-BCB2E8DEE40B}"/>
              </a:ext>
            </a:extLst>
          </p:cNvPr>
          <p:cNvCxnSpPr>
            <a:cxnSpLocks/>
          </p:cNvCxnSpPr>
          <p:nvPr/>
        </p:nvCxnSpPr>
        <p:spPr>
          <a:xfrm>
            <a:off x="5569180" y="5342978"/>
            <a:ext cx="0" cy="688673"/>
          </a:xfrm>
          <a:prstGeom prst="line">
            <a:avLst/>
          </a:prstGeom>
          <a:ln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48197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5E39BA5-7119-3FC8-0359-4D7EA4844E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83030" y="1646552"/>
            <a:ext cx="10425939" cy="3723549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F1016CE4-F66F-4840-2A70-A02F4A13C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339" y="250075"/>
            <a:ext cx="4057462" cy="536790"/>
          </a:xfrm>
        </p:spPr>
        <p:txBody>
          <a:bodyPr anchor="b">
            <a:noAutofit/>
          </a:bodyPr>
          <a:lstStyle/>
          <a:p>
            <a:r>
              <a:rPr lang="en-US" sz="2800" dirty="0">
                <a:solidFill>
                  <a:srgbClr val="595959"/>
                </a:solidFill>
                <a:latin typeface="+mn-lt"/>
              </a:rPr>
              <a:t>Training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33F6356-8F3E-4808-88B6-2C100D5172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339" y="718025"/>
            <a:ext cx="10258813" cy="731100"/>
          </a:xfr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3600" b="1" dirty="0"/>
              <a:t>Gated Models Train Longer | SimpleRNN Stops Early</a:t>
            </a:r>
            <a:endParaRPr lang="en-US" sz="3600" b="1" dirty="0">
              <a:ea typeface="+mn-lt"/>
              <a:cs typeface="+mn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E28B5E-E239-0E62-547A-01529A090DDA}"/>
              </a:ext>
            </a:extLst>
          </p:cNvPr>
          <p:cNvSpPr txBox="1"/>
          <p:nvPr/>
        </p:nvSpPr>
        <p:spPr>
          <a:xfrm>
            <a:off x="4747331" y="5567528"/>
            <a:ext cx="142861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rgbClr val="C2185B"/>
                </a:solidFill>
                <a:latin typeface="Aptos ExtraBold" panose="020B0004020202020204" pitchFamily="34" charset="0"/>
              </a:rPr>
              <a:t>116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87B85FE-2BC4-1CC3-2C66-938100E1EA6C}"/>
              </a:ext>
            </a:extLst>
          </p:cNvPr>
          <p:cNvCxnSpPr>
            <a:cxnSpLocks/>
          </p:cNvCxnSpPr>
          <p:nvPr/>
        </p:nvCxnSpPr>
        <p:spPr>
          <a:xfrm>
            <a:off x="4570090" y="5724648"/>
            <a:ext cx="0" cy="673877"/>
          </a:xfrm>
          <a:prstGeom prst="line">
            <a:avLst/>
          </a:prstGeom>
          <a:ln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FEA29E6-0E9E-BF4E-ACAC-4C7A255DB155}"/>
              </a:ext>
            </a:extLst>
          </p:cNvPr>
          <p:cNvSpPr txBox="1"/>
          <p:nvPr/>
        </p:nvSpPr>
        <p:spPr>
          <a:xfrm>
            <a:off x="5893869" y="5629083"/>
            <a:ext cx="185604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Epochs, GRU</a:t>
            </a:r>
          </a:p>
          <a:p>
            <a:r>
              <a:rPr lang="en-US" sz="2000" dirty="0" err="1">
                <a:solidFill>
                  <a:srgbClr val="595959"/>
                </a:solidFill>
              </a:rPr>
              <a:t>SimpleRNN</a:t>
            </a:r>
            <a:r>
              <a:rPr lang="en-US" sz="2000" dirty="0">
                <a:solidFill>
                  <a:srgbClr val="595959"/>
                </a:solidFill>
              </a:rPr>
              <a:t>, 29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52015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C95A06-2A82-E74D-05F8-264C7A7E7E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02D03DED-DB3C-1D6E-28AC-EF39ED9E3D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339" y="250075"/>
            <a:ext cx="4057462" cy="536790"/>
          </a:xfrm>
        </p:spPr>
        <p:txBody>
          <a:bodyPr anchor="b">
            <a:noAutofit/>
          </a:bodyPr>
          <a:lstStyle/>
          <a:p>
            <a:r>
              <a:rPr lang="en-US" sz="2800" dirty="0">
                <a:solidFill>
                  <a:srgbClr val="595959"/>
                </a:solidFill>
                <a:latin typeface="+mn-lt"/>
              </a:rPr>
              <a:t>Where It Fails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14A3816-3E17-DBF4-63C6-95C92E1699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339" y="680990"/>
            <a:ext cx="10258813" cy="731100"/>
          </a:xfr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3600" b="1" dirty="0">
                <a:ea typeface="+mn-lt"/>
                <a:cs typeface="+mn-lt"/>
              </a:rPr>
              <a:t>Married Women Are the Hardest Group to Fit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48333D-6D66-9505-D99E-BBEEFEB9EDD4}"/>
              </a:ext>
            </a:extLst>
          </p:cNvPr>
          <p:cNvSpPr txBox="1"/>
          <p:nvPr/>
        </p:nvSpPr>
        <p:spPr>
          <a:xfrm>
            <a:off x="6777218" y="2075567"/>
            <a:ext cx="459984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dirty="0">
                <a:solidFill>
                  <a:srgbClr val="C2185B"/>
                </a:solidFill>
                <a:latin typeface="Aptos ExtraBold" panose="020B0004020202020204" pitchFamily="34" charset="0"/>
              </a:rPr>
              <a:t>0.112</a:t>
            </a:r>
            <a:endParaRPr lang="en-US" sz="8000" dirty="0">
              <a:solidFill>
                <a:srgbClr val="C2185B"/>
              </a:solidFill>
              <a:latin typeface="Aptos ExtraBold" panose="020B0004020202020204" pitchFamily="34" charset="0"/>
            </a:endParaRPr>
          </a:p>
          <a:p>
            <a:pPr algn="ctr"/>
            <a:r>
              <a:rPr lang="en-US" sz="2800" dirty="0"/>
              <a:t>MAE, married women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6BFBC7F-39DF-39F2-C366-32EC1B3CD1BE}"/>
              </a:ext>
            </a:extLst>
          </p:cNvPr>
          <p:cNvCxnSpPr>
            <a:cxnSpLocks/>
          </p:cNvCxnSpPr>
          <p:nvPr/>
        </p:nvCxnSpPr>
        <p:spPr>
          <a:xfrm>
            <a:off x="6632840" y="2065253"/>
            <a:ext cx="0" cy="1651845"/>
          </a:xfrm>
          <a:prstGeom prst="line">
            <a:avLst/>
          </a:prstGeom>
          <a:ln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8500C3C2-5AEA-2E7C-D4A1-F54847AC0BFE}"/>
              </a:ext>
            </a:extLst>
          </p:cNvPr>
          <p:cNvSpPr txBox="1"/>
          <p:nvPr/>
        </p:nvSpPr>
        <p:spPr>
          <a:xfrm>
            <a:off x="381771" y="2229456"/>
            <a:ext cx="610669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000" dirty="0"/>
              <a:t>Married women: MAE 0.112, worst case 0.358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000" dirty="0"/>
              <a:t>Unmarried women: 0.049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000" dirty="0"/>
              <a:t>Married men: 0.052  |  Unmarried men: 0.081</a:t>
            </a:r>
          </a:p>
        </p:txBody>
      </p:sp>
    </p:spTree>
    <p:extLst>
      <p:ext uri="{BB962C8B-B14F-4D97-AF65-F5344CB8AC3E}">
        <p14:creationId xmlns:p14="http://schemas.microsoft.com/office/powerpoint/2010/main" val="76797528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EEEBEDE-815E-7B5C-3B1D-536C223BF7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269" y="1556660"/>
            <a:ext cx="4057462" cy="371559"/>
          </a:xfrm>
        </p:spPr>
        <p:txBody>
          <a:bodyPr anchor="b">
            <a:noAutofit/>
          </a:bodyPr>
          <a:lstStyle/>
          <a:p>
            <a:r>
              <a:rPr lang="en-US" sz="2800" dirty="0">
                <a:solidFill>
                  <a:srgbClr val="595959"/>
                </a:solidFill>
                <a:latin typeface="+mn-lt"/>
              </a:rPr>
              <a:t>Act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18951E2-90E1-E5C6-2509-C948948BC99B}"/>
              </a:ext>
            </a:extLst>
          </p:cNvPr>
          <p:cNvSpPr txBox="1">
            <a:spLocks/>
          </p:cNvSpPr>
          <p:nvPr/>
        </p:nvSpPr>
        <p:spPr>
          <a:xfrm>
            <a:off x="474269" y="1927846"/>
            <a:ext cx="10982426" cy="3218146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 anchor="t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500" b="1" dirty="0"/>
              <a:t>Where the Disparity Lives, and What Models Can and Can't See</a:t>
            </a:r>
            <a:endParaRPr lang="en-US" sz="3500" dirty="0"/>
          </a:p>
          <a:p>
            <a:r>
              <a:rPr lang="en-US" sz="2000" dirty="0">
                <a:ea typeface="+mn-lt"/>
                <a:cs typeface="+mn-lt"/>
              </a:rPr>
              <a:t>It is widest among the most credentialed and longest-working</a:t>
            </a:r>
          </a:p>
          <a:p>
            <a:r>
              <a:rPr lang="en-US" sz="2000" dirty="0">
                <a:ea typeface="+mn-lt"/>
                <a:cs typeface="+mn-lt"/>
              </a:rPr>
              <a:t>Sex still predicts income at 1.25× odds with occupation held constant</a:t>
            </a:r>
          </a:p>
          <a:p>
            <a:r>
              <a:rPr lang="en-US" sz="2000" dirty="0">
                <a:ea typeface="+mn-lt"/>
                <a:cs typeface="+mn-lt"/>
              </a:rPr>
              <a:t>Marital status absorbs most of the raw gap and works differently by sex</a:t>
            </a:r>
          </a:p>
          <a:p>
            <a:r>
              <a:rPr lang="en-US" sz="2000" dirty="0">
                <a:ea typeface="+mn-lt"/>
                <a:cs typeface="+mn-lt"/>
              </a:rPr>
              <a:t>Age profiles carry real structure, but a persistence rule matches the networks</a:t>
            </a:r>
          </a:p>
          <a:p>
            <a:r>
              <a:rPr lang="en-US" sz="2000" dirty="0">
                <a:ea typeface="+mn-lt"/>
                <a:cs typeface="+mn-lt"/>
              </a:rPr>
              <a:t>Only GRU beat the flattened model, and the ranking shifted across seeds</a:t>
            </a:r>
            <a:endParaRPr lang="en-US" sz="2000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E8EB25C0-945C-DEFE-6D0A-F4554EAF9034}"/>
              </a:ext>
            </a:extLst>
          </p:cNvPr>
          <p:cNvSpPr txBox="1">
            <a:spLocks/>
          </p:cNvSpPr>
          <p:nvPr/>
        </p:nvSpPr>
        <p:spPr>
          <a:xfrm>
            <a:off x="474269" y="5566513"/>
            <a:ext cx="10419018" cy="59517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  <a:ea typeface="+mn-lt"/>
                <a:cs typeface="+mn-lt"/>
              </a:rPr>
              <a:t>1994 cross-section · age-ordered not time-ordered · correlation not causation</a:t>
            </a:r>
            <a:endParaRPr lang="en-US" sz="2000" dirty="0">
              <a:ea typeface="+mn-lt"/>
              <a:cs typeface="+mn-lt"/>
            </a:endParaRPr>
          </a:p>
          <a:p>
            <a:pPr marL="0" indent="0">
              <a:buNone/>
            </a:pPr>
            <a:endParaRPr lang="en-US" sz="2000" dirty="0">
              <a:solidFill>
                <a:schemeClr val="tx1"/>
              </a:solidFill>
              <a:ea typeface="+mn-lt"/>
              <a:cs typeface="+mn-lt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1C8EA54-3CD7-BE67-504C-82DA7CF95767}"/>
              </a:ext>
            </a:extLst>
          </p:cNvPr>
          <p:cNvCxnSpPr>
            <a:cxnSpLocks/>
          </p:cNvCxnSpPr>
          <p:nvPr/>
        </p:nvCxnSpPr>
        <p:spPr>
          <a:xfrm>
            <a:off x="474269" y="5356253"/>
            <a:ext cx="1090397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853569"/>
      </p:ext>
    </p:extLst>
  </p:cSld>
  <p:clrMapOvr>
    <a:masterClrMapping/>
  </p:clrMapOvr>
</p:sld>
</file>

<file path=ppt/theme/theme1.xml><?xml version="1.0" encoding="utf-8"?>
<a:theme xmlns:a="http://schemas.openxmlformats.org/drawingml/2006/main" name="Shoji">
  <a:themeElements>
    <a:clrScheme name="Shoji">
      <a:dk1>
        <a:srgbClr val="131313"/>
      </a:dk1>
      <a:lt1>
        <a:sysClr val="window" lastClr="FFFFFF"/>
      </a:lt1>
      <a:dk2>
        <a:srgbClr val="1D3433"/>
      </a:dk2>
      <a:lt2>
        <a:srgbClr val="F3F2ED"/>
      </a:lt2>
      <a:accent1>
        <a:srgbClr val="7C5C3E"/>
      </a:accent1>
      <a:accent2>
        <a:srgbClr val="B8A189"/>
      </a:accent2>
      <a:accent3>
        <a:srgbClr val="A1A696"/>
      </a:accent3>
      <a:accent4>
        <a:srgbClr val="566868"/>
      </a:accent4>
      <a:accent5>
        <a:srgbClr val="786F50"/>
      </a:accent5>
      <a:accent6>
        <a:srgbClr val="A9A375"/>
      </a:accent6>
      <a:hlink>
        <a:srgbClr val="B1785F"/>
      </a:hlink>
      <a:folHlink>
        <a:srgbClr val="6C7F7F"/>
      </a:folHlink>
    </a:clrScheme>
    <a:fontScheme name="Shoji">
      <a:majorFont>
        <a:latin typeface="Walbaum Display"/>
        <a:ea typeface=""/>
        <a:cs typeface=""/>
      </a:majorFont>
      <a:minorFont>
        <a:latin typeface="Aptos Light"/>
        <a:ea typeface=""/>
        <a:cs typeface=""/>
      </a:minorFont>
    </a:fontScheme>
    <a:fmtScheme name="Shoj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hoji" id="{7C0904FA-0AD1-4483-A5D4-099F50FF4C45}" vid="{404A0E70-4EB4-4278-A584-7A679A276E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317</TotalTime>
  <Words>941</Words>
  <Application>Microsoft Office PowerPoint</Application>
  <PresentationFormat>Widescreen</PresentationFormat>
  <Paragraphs>211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Aptos ExtraBold</vt:lpstr>
      <vt:lpstr>Aptos Light</vt:lpstr>
      <vt:lpstr>Arial</vt:lpstr>
      <vt:lpstr>Walbaum Display</vt:lpstr>
      <vt:lpstr>Shoji</vt:lpstr>
      <vt:lpstr>Locating the Income Disparity by Sex  Census Income Dataset (1994 US Census) </vt:lpstr>
      <vt:lpstr>PowerPoint Presentation</vt:lpstr>
      <vt:lpstr>PowerPoint Presentation</vt:lpstr>
      <vt:lpstr>PowerPoint Presentation</vt:lpstr>
      <vt:lpstr>PowerPoint Presentation</vt:lpstr>
      <vt:lpstr>Analyze</vt:lpstr>
      <vt:lpstr>Report</vt:lpstr>
      <vt:lpstr>Education</vt:lpstr>
      <vt:lpstr>Hours</vt:lpstr>
      <vt:lpstr>Occupational Composition</vt:lpstr>
      <vt:lpstr>Marital Status</vt:lpstr>
      <vt:lpstr>Top Two Occupations</vt:lpstr>
      <vt:lpstr>Analyze</vt:lpstr>
      <vt:lpstr>Ranking Quality</vt:lpstr>
      <vt:lpstr>Errors</vt:lpstr>
      <vt:lpstr>Model Comparison</vt:lpstr>
      <vt:lpstr>Conditioning</vt:lpstr>
      <vt:lpstr>Stratified Models</vt:lpstr>
      <vt:lpstr>Feature Importance</vt:lpstr>
      <vt:lpstr>Analyze</vt:lpstr>
      <vt:lpstr>Age Profiles</vt:lpstr>
      <vt:lpstr>Windowing</vt:lpstr>
      <vt:lpstr>Architectures</vt:lpstr>
      <vt:lpstr>Model Comparison</vt:lpstr>
      <vt:lpstr>Training</vt:lpstr>
      <vt:lpstr>Where It Fails</vt:lpstr>
      <vt:lpstr>Act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Janna Hoyne</dc:creator>
  <cp:lastModifiedBy>Janna Hoyne</cp:lastModifiedBy>
  <cp:revision>41</cp:revision>
  <cp:lastPrinted>2026-08-11T23:21:18Z</cp:lastPrinted>
  <dcterms:created xsi:type="dcterms:W3CDTF">2026-08-03T07:17:32Z</dcterms:created>
  <dcterms:modified xsi:type="dcterms:W3CDTF">2026-08-17T02:21:44Z</dcterms:modified>
</cp:coreProperties>
</file>