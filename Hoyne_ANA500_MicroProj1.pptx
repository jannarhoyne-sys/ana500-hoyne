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84A48-ED60-4C3D-8040-EA420D1376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950468-0315-4B9D-B09C-8C8C8EBD6A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C4A60-6695-4CB3-AF2E-ACFA3C0B8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2AFC1-4F45-459D-BC95-0F8F5E3A429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D2078-2F8D-45FB-9C14-17036DA5D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D9676-FA59-4F47-9033-2CFC79763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5D697-CC64-4CAF-A466-D1105DD36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420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04559-4EA9-4030-8CD7-225515C39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446E6-DF6C-44D2-BA71-5D6445655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5ECAD-0D49-425E-99BE-4E9A27976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2AFC1-4F45-459D-BC95-0F8F5E3A429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6268D-3BF4-472B-B1D5-518489674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F4C8E-AFA1-48CB-9BE5-583A37660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5D697-CC64-4CAF-A466-D1105DD36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279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CC60D-06AE-4839-A5F6-DB50DF878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8C870F-1989-4744-AA64-C97EBC308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CF60B-312D-4E68-B904-78A68C9AF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2AFC1-4F45-459D-BC95-0F8F5E3A429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5CA4F-B8D7-4A59-A5BA-74DF90CC1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BAD61-51E4-4D1D-8E14-1EB20C0EC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5D697-CC64-4CAF-A466-D1105DD36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503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51454-95B8-455D-BFC1-6C6DA3603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FBC0B-D342-4647-B5BA-5B6ADF294E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69BC10-2FBB-4372-AE80-21EC4AB47A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FE6231-D355-4CB0-AB68-1D21D4EB6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2AFC1-4F45-459D-BC95-0F8F5E3A429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01BF01-A233-43E9-8949-BAADCAF95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EA8DA2-49A7-4CD4-AD2A-B4AE89F09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5D697-CC64-4CAF-A466-D1105DD36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572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A6AAD-2645-4527-94B3-3A3BECB92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031552-937E-4EAB-883E-C29FBC415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3455D9-4697-44D3-AB55-9CADBE716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58DC7D-BF9A-4F54-AB58-1C49FFA17D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D3AE0C-DB47-4E16-828A-3429714FAD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3C3C45-525E-4801-90AF-776B7EFC5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2AFC1-4F45-459D-BC95-0F8F5E3A429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B6704D-F5BC-4598-B7E7-5F53967A6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D9A6A6-BB3C-4DD0-A205-F8593CED1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5D697-CC64-4CAF-A466-D1105DD36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940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609AA-EE0C-4FE6-8E30-99E91A13B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DA744A-AA0E-40C1-82B4-1865879AD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2AFC1-4F45-459D-BC95-0F8F5E3A429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1794A4-DA55-49C9-9EE1-51AFA7980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3A595F-05DA-41C2-AFB0-CC51AFDB9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5D697-CC64-4CAF-A466-D1105DD36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772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5F4ACF-3F96-4D20-91DE-5A7A89B4A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2AFC1-4F45-459D-BC95-0F8F5E3A429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2B232B-2221-443B-9621-C2FFF4160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970A4F-5257-4439-983C-D802F7190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5D697-CC64-4CAF-A466-D1105DD36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692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5D602-AEC1-494B-9EC8-423C9605B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C75CB-286B-4E0D-946F-B2152E792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6FE692-594E-4FE0-A040-69DCF74AAA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E66829-7538-463B-99D9-8920CBDF4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2AFC1-4F45-459D-BC95-0F8F5E3A429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B5AFDF-77FC-4354-AF3B-008607F92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77315B-5282-41D1-99A3-2ADE83DA1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5D697-CC64-4CAF-A466-D1105DD36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724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77A91-0A20-466E-9CA8-86B63BE8A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8C2C4C-22CA-4398-A23B-4F068FB5A7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574D67-2A27-42C6-815E-BE5AD10D36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BB23AA-5E29-4400-B52D-822F13ED6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2AFC1-4F45-459D-BC95-0F8F5E3A429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368ADC-B329-411C-AA83-9EEADAE8A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78A6D9-A5FD-46E3-8F58-CDC4CC4B8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5D697-CC64-4CAF-A466-D1105DD36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824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59857-0725-4AFD-ADA1-93DE6885A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742F07-D500-4235-A3BD-4E9FA3C926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B7CF7-F61A-47E7-B601-419FF069E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2AFC1-4F45-459D-BC95-0F8F5E3A429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8C1B3-4CDE-4267-AF19-9C2FCF860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38641-A10F-457F-B6A9-3F574B2B2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5D697-CC64-4CAF-A466-D1105DD36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47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3A314E-DAF4-459C-AF7B-C7347C7639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7BE33E-4004-41A3-B3E6-14272F53B3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A99DB-D8D6-44B2-B140-B5C0DD698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2AFC1-4F45-459D-BC95-0F8F5E3A429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BF21E-4345-40CE-88C3-7C77ECC01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F20F6-FD42-49EE-AE17-171924F49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5D697-CC64-4CAF-A466-D1105DD36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32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5F7E3-61B5-4449-80CF-04DA4D37A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CFC45A-DECF-4B86-87F6-C12B501A4F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712EE-4BB3-49D3-9FAF-733EA6255E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52AFC1-4F45-459D-BC95-0F8F5E3A429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FC8A3-CA43-47DE-88A0-18EE8FB2D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CC4C2-DBD2-41A0-8542-0ED48583DA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5D697-CC64-4CAF-A466-D1105DD36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281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annarhoyne-sys/ANA500-Hoyne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FD3DB-B193-4E72-861B-FE835A2E1F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089" y="1540055"/>
            <a:ext cx="10035822" cy="2387600"/>
          </a:xfrm>
        </p:spPr>
        <p:txBody>
          <a:bodyPr>
            <a:noAutofit/>
          </a:bodyPr>
          <a:lstStyle/>
          <a:p>
            <a:r>
              <a:rPr lang="en-US" sz="4000" dirty="0"/>
              <a:t>Party Demographic Composition, 1998–2024</a:t>
            </a:r>
            <a:br>
              <a:rPr lang="en-US" sz="4000" dirty="0"/>
            </a:br>
            <a:r>
              <a:rPr lang="en-US" sz="4000" dirty="0"/>
              <a:t>Micro-Project 1</a:t>
            </a:r>
            <a:br>
              <a:rPr lang="en-US" sz="4000" dirty="0"/>
            </a:br>
            <a:r>
              <a:rPr lang="en-US" sz="4000" dirty="0"/>
              <a:t>ANES Time Series Cumulative Data File (1948–2024)</a:t>
            </a:r>
            <a:br>
              <a:rPr lang="en-US" sz="4000" dirty="0"/>
            </a:br>
            <a:r>
              <a:rPr lang="en-US" sz="4000" dirty="0">
                <a:hlinkClick r:id="rId2"/>
              </a:rPr>
              <a:t>Repository link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B5E315-C208-479B-A6B8-0DCBEF2B5F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49583"/>
            <a:ext cx="9144000" cy="8683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Janna Hoyne</a:t>
            </a:r>
          </a:p>
          <a:p>
            <a:r>
              <a:rPr lang="en-US" dirty="0"/>
              <a:t>August 16, 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251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302AB-CEDA-4E89-A1DC-6BABC9C3F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D07EA-4B74-4BFA-A23D-5147B6A28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Party composition is widely discussed but rarely measured against the population</a:t>
            </a:r>
          </a:p>
          <a:p>
            <a:pPr lvl="0"/>
            <a:r>
              <a:rPr lang="en-US" dirty="0"/>
              <a:t>A party's share of a group can rise while it falls relative to the national trend</a:t>
            </a:r>
          </a:p>
          <a:p>
            <a:pPr lvl="0"/>
            <a:r>
              <a:rPr lang="en-US" dirty="0"/>
              <a:t>How and when did party composition change, 1998–2024?</a:t>
            </a:r>
          </a:p>
        </p:txBody>
      </p:sp>
    </p:spTree>
    <p:extLst>
      <p:ext uri="{BB962C8B-B14F-4D97-AF65-F5344CB8AC3E}">
        <p14:creationId xmlns:p14="http://schemas.microsoft.com/office/powerpoint/2010/main" val="1880678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9C91F-7913-4D5C-A911-ADD4837DA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Hypothesis Formulation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A42CE-FCD3-41B9-A629-5F3C6031F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H1: change occurred in bursts, not steadily</a:t>
            </a:r>
          </a:p>
          <a:p>
            <a:pPr lvl="0"/>
            <a:r>
              <a:rPr lang="en-US" dirty="0"/>
              <a:t>(a) Shift magnitudes differ substantially across intervals</a:t>
            </a:r>
          </a:p>
          <a:p>
            <a:pPr lvl="0"/>
            <a:r>
              <a:rPr lang="en-US" dirty="0"/>
              <a:t>(b) On at least one dimension, parties diverge from each other rather than tracking the national trend</a:t>
            </a:r>
          </a:p>
          <a:p>
            <a:pPr lvl="0"/>
            <a:r>
              <a:rPr lang="en-US" dirty="0"/>
              <a:t>Formulated before analysis</a:t>
            </a:r>
          </a:p>
        </p:txBody>
      </p:sp>
    </p:spTree>
    <p:extLst>
      <p:ext uri="{BB962C8B-B14F-4D97-AF65-F5344CB8AC3E}">
        <p14:creationId xmlns:p14="http://schemas.microsoft.com/office/powerpoint/2010/main" val="3306958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A7252-6823-44F9-B464-D7A15D12B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Acquire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AE391-6366-4E20-A14E-0ECFAEA80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ANES Time Series Cumulative File, Feb 2026 release</a:t>
            </a:r>
          </a:p>
          <a:p>
            <a:pPr lvl="0"/>
            <a:r>
              <a:rPr lang="en-US" dirty="0"/>
              <a:t>73,745 respondents × 1,030 variables</a:t>
            </a:r>
          </a:p>
          <a:p>
            <a:pPr lvl="0"/>
            <a:r>
              <a:rPr lang="en-US" dirty="0"/>
              <a:t>Subset to 53 variables</a:t>
            </a:r>
          </a:p>
          <a:p>
            <a:pPr lvl="1"/>
            <a:r>
              <a:rPr lang="en-US" dirty="0"/>
              <a:t>1998–2024 = 32,118 rows</a:t>
            </a:r>
          </a:p>
          <a:p>
            <a:pPr lvl="0"/>
            <a:r>
              <a:rPr lang="en-US" dirty="0"/>
              <a:t>Nine survey years — ANES dropped midterms after 2002</a:t>
            </a:r>
          </a:p>
          <a:p>
            <a:pPr lvl="0"/>
            <a:r>
              <a:rPr lang="en-US" dirty="0"/>
              <a:t>Row counts verified against published codebook</a:t>
            </a:r>
          </a:p>
        </p:txBody>
      </p:sp>
    </p:spTree>
    <p:extLst>
      <p:ext uri="{BB962C8B-B14F-4D97-AF65-F5344CB8AC3E}">
        <p14:creationId xmlns:p14="http://schemas.microsoft.com/office/powerpoint/2010/main" val="427023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A7252-6823-44F9-B464-D7A15D12B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Prepare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AE391-6366-4E20-A14E-0ECFAEA80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Missing codes stored as numbers (education "9" = refused, reads above "7" = advanced degree) — eight variables recoded individually</a:t>
            </a:r>
          </a:p>
          <a:p>
            <a:pPr lvl="0"/>
            <a:r>
              <a:rPr lang="en-US" dirty="0"/>
              <a:t>Two measurement breaks flagged: race (1998 - 2000), gender (2012 - 2016)</a:t>
            </a:r>
          </a:p>
          <a:p>
            <a:pPr lvl="0"/>
            <a:r>
              <a:rPr lang="en-US" dirty="0"/>
              <a:t>Education collapsed 7 to 4 categories to repair instrument changes</a:t>
            </a:r>
          </a:p>
          <a:p>
            <a:pPr lvl="0"/>
            <a:r>
              <a:rPr lang="en-US" dirty="0"/>
              <a:t>Weighting is mandatory: unweighted 2008 showed 63.3% non-white Democrats vs 38.2% weighted</a:t>
            </a:r>
          </a:p>
          <a:p>
            <a:pPr lvl="0"/>
            <a:r>
              <a:rPr lang="en-US" dirty="0"/>
              <a:t>Validity checks: mode balanced across parties; attrition bias runs against the finding</a:t>
            </a:r>
          </a:p>
        </p:txBody>
      </p:sp>
    </p:spTree>
    <p:extLst>
      <p:ext uri="{BB962C8B-B14F-4D97-AF65-F5344CB8AC3E}">
        <p14:creationId xmlns:p14="http://schemas.microsoft.com/office/powerpoint/2010/main" val="2788217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A7252-6823-44F9-B464-D7A15D12B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Analyze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AE391-6366-4E20-A14E-0ECFAEA80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Not performed — project terminates at Prepare</a:t>
            </a:r>
          </a:p>
          <a:p>
            <a:pPr lvl="0"/>
            <a:r>
              <a:rPr lang="en-US" dirty="0"/>
              <a:t>Descriptive findings only: education crossover in 2016 (Dem 21.2% to 43.7%, Rep flat at ~27%)</a:t>
            </a:r>
          </a:p>
          <a:p>
            <a:pPr lvl="0"/>
            <a:r>
              <a:rPr lang="en-US" dirty="0"/>
              <a:t>Race parallel</a:t>
            </a:r>
          </a:p>
          <a:p>
            <a:pPr lvl="1"/>
            <a:r>
              <a:rPr lang="en-US" dirty="0"/>
              <a:t>registration gap is independent vs. partisan, not D vs. R</a:t>
            </a:r>
          </a:p>
          <a:p>
            <a:pPr lvl="0"/>
            <a:r>
              <a:rPr lang="en-US" dirty="0"/>
              <a:t>Next step would be multivariate: does the education gap survive controls for race, age, gender?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98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A7252-6823-44F9-B464-D7A15D12B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Report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AE391-6366-4E20-A14E-0ECFAEA80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H1(a) supported: per-year change ranges −0.20 to +2.85 points</a:t>
            </a:r>
          </a:p>
          <a:p>
            <a:pPr lvl="0"/>
            <a:r>
              <a:rPr lang="en-US" dirty="0"/>
              <a:t>H1(b) supported on education, not race</a:t>
            </a:r>
          </a:p>
          <a:p>
            <a:pPr lvl="0"/>
            <a:r>
              <a:rPr lang="en-US" dirty="0"/>
              <a:t>Principle: report gaps, not levels - year-level bias cancels out of the difference</a:t>
            </a:r>
          </a:p>
          <a:p>
            <a:pPr lvl="0"/>
            <a:r>
              <a:rPr lang="en-US" dirty="0"/>
              <a:t>Limitations: self-report inflation, two measurement breaks, 2024 mode change</a:t>
            </a:r>
          </a:p>
        </p:txBody>
      </p:sp>
    </p:spTree>
    <p:extLst>
      <p:ext uri="{BB962C8B-B14F-4D97-AF65-F5344CB8AC3E}">
        <p14:creationId xmlns:p14="http://schemas.microsoft.com/office/powerpoint/2010/main" val="2309908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8C1A2-E365-4EAD-A777-10EF9BD25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C0D0A-FDCC-4561-A8EB-1F836A94A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Analysis-ready file saved with per-column cleaning status documented</a:t>
            </a:r>
          </a:p>
          <a:p>
            <a:pPr lvl="0"/>
            <a:r>
              <a:rPr lang="en-US" dirty="0"/>
              <a:t>Finding: GOP composition didn't decline in absolute terms — it fell behind a rising national trend</a:t>
            </a:r>
          </a:p>
          <a:p>
            <a:pPr lvl="0"/>
            <a:r>
              <a:rPr lang="en-US" dirty="0"/>
              <a:t>Events cannot be isolated as causes; four-year gaps after 2002</a:t>
            </a:r>
          </a:p>
          <a:p>
            <a:pPr lvl="0"/>
            <a:r>
              <a:rPr lang="en-US" dirty="0"/>
              <a:t>Reusable pipeline for extension to religion, region, income</a:t>
            </a:r>
          </a:p>
        </p:txBody>
      </p:sp>
    </p:spTree>
    <p:extLst>
      <p:ext uri="{BB962C8B-B14F-4D97-AF65-F5344CB8AC3E}">
        <p14:creationId xmlns:p14="http://schemas.microsoft.com/office/powerpoint/2010/main" val="4024108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395</Words>
  <Application>Microsoft Office PowerPoint</Application>
  <PresentationFormat>Widescreen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Party Demographic Composition, 1998–2024 Micro-Project 1 ANES Time Series Cumulative Data File (1948–2024) Repository link</vt:lpstr>
      <vt:lpstr>Problem Statement</vt:lpstr>
      <vt:lpstr>Hypothesis Formulation</vt:lpstr>
      <vt:lpstr>Acquire</vt:lpstr>
      <vt:lpstr>Prepare</vt:lpstr>
      <vt:lpstr>Analyze data</vt:lpstr>
      <vt:lpstr>Report</vt:lpstr>
      <vt:lpstr>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&lt;Project Title&gt; &lt;Micro-Project #&gt;</dc:title>
  <dc:creator>Emmanuel J Rodriguez</dc:creator>
  <cp:lastModifiedBy>Janna Hoyne</cp:lastModifiedBy>
  <cp:revision>3</cp:revision>
  <dcterms:created xsi:type="dcterms:W3CDTF">2022-03-01T22:05:03Z</dcterms:created>
  <dcterms:modified xsi:type="dcterms:W3CDTF">2026-07-28T02:32:58Z</dcterms:modified>
</cp:coreProperties>
</file>